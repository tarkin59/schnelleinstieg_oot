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7" r:id="rId13"/>
    <p:sldId id="274" r:id="rId14"/>
    <p:sldId id="265" r:id="rId15"/>
    <p:sldId id="269" r:id="rId16"/>
    <p:sldId id="270" r:id="rId17"/>
    <p:sldId id="272" r:id="rId18"/>
    <p:sldId id="271" r:id="rId19"/>
    <p:sldId id="268" r:id="rId20"/>
    <p:sldId id="264" r:id="rId21"/>
    <p:sldId id="266" r:id="rId2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D25A96-0D5E-29F4-FAB5-7BC5FB27C54B}" v="6" dt="2026-01-07T07:47:55.6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90" d="100"/>
          <a:sy n="90" d="100"/>
        </p:scale>
        <p:origin x="87" y="1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e Fiordellisi" userId="S::gabriele.fiordellisi@student.ipso.ch::f0c532f0-36c3-4753-a3dd-02baa3110831" providerId="AD" clId="Web-{CC4A019C-C159-45E1-B18C-7AD20FDF7B40}"/>
    <pc:docChg chg="modSld">
      <pc:chgData name="Gabriele Fiordellisi" userId="S::gabriele.fiordellisi@student.ipso.ch::f0c532f0-36c3-4753-a3dd-02baa3110831" providerId="AD" clId="Web-{CC4A019C-C159-45E1-B18C-7AD20FDF7B40}" dt="2025-12-12T09:22:06.278" v="1"/>
      <pc:docMkLst>
        <pc:docMk/>
      </pc:docMkLst>
      <pc:sldChg chg="modSp">
        <pc:chgData name="Gabriele Fiordellisi" userId="S::gabriele.fiordellisi@student.ipso.ch::f0c532f0-36c3-4753-a3dd-02baa3110831" providerId="AD" clId="Web-{CC4A019C-C159-45E1-B18C-7AD20FDF7B40}" dt="2025-12-12T09:22:06.278" v="1"/>
        <pc:sldMkLst>
          <pc:docMk/>
          <pc:sldMk cId="2024975221" sldId="259"/>
        </pc:sldMkLst>
        <pc:graphicFrameChg chg="mod modGraphic">
          <ac:chgData name="Gabriele Fiordellisi" userId="S::gabriele.fiordellisi@student.ipso.ch::f0c532f0-36c3-4753-a3dd-02baa3110831" providerId="AD" clId="Web-{CC4A019C-C159-45E1-B18C-7AD20FDF7B40}" dt="2025-12-12T09:22:06.278" v="1"/>
          <ac:graphicFrameMkLst>
            <pc:docMk/>
            <pc:sldMk cId="2024975221" sldId="259"/>
            <ac:graphicFrameMk id="4" creationId="{36DF443A-A094-EE15-67DF-284C66964104}"/>
          </ac:graphicFrameMkLst>
        </pc:graphicFrameChg>
      </pc:sldChg>
    </pc:docChg>
  </pc:docChgLst>
  <pc:docChgLst>
    <pc:chgData name="Christian Herren" userId="S::christian.herren@ipso.ch::07233c7b-2373-43b2-a88f-a2d6b8f4321c" providerId="AD" clId="Web-{EAD25A96-0D5E-29F4-FAB5-7BC5FB27C54B}"/>
    <pc:docChg chg="modSld">
      <pc:chgData name="Christian Herren" userId="S::christian.herren@ipso.ch::07233c7b-2373-43b2-a88f-a2d6b8f4321c" providerId="AD" clId="Web-{EAD25A96-0D5E-29F4-FAB5-7BC5FB27C54B}" dt="2026-01-07T07:47:54.774" v="1"/>
      <pc:docMkLst>
        <pc:docMk/>
      </pc:docMkLst>
      <pc:sldChg chg="modSp">
        <pc:chgData name="Christian Herren" userId="S::christian.herren@ipso.ch::07233c7b-2373-43b2-a88f-a2d6b8f4321c" providerId="AD" clId="Web-{EAD25A96-0D5E-29F4-FAB5-7BC5FB27C54B}" dt="2026-01-07T07:47:54.774" v="1"/>
        <pc:sldMkLst>
          <pc:docMk/>
          <pc:sldMk cId="3586818244" sldId="263"/>
        </pc:sldMkLst>
        <pc:graphicFrameChg chg="mod modGraphic">
          <ac:chgData name="Christian Herren" userId="S::christian.herren@ipso.ch::07233c7b-2373-43b2-a88f-a2d6b8f4321c" providerId="AD" clId="Web-{EAD25A96-0D5E-29F4-FAB5-7BC5FB27C54B}" dt="2026-01-07T07:47:54.774" v="1"/>
          <ac:graphicFrameMkLst>
            <pc:docMk/>
            <pc:sldMk cId="3586818244" sldId="263"/>
            <ac:graphicFrameMk id="4" creationId="{2170B735-C937-91CB-7FCE-E35DAB17C7F9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295C63-5650-4A4E-B9BA-4728E5D5F4C8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51729D-1037-4EC3-9D29-079C6C8570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5801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51729D-1037-4EC3-9D29-079C6C8570B5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9157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07F3A9-C12B-E3C3-3B62-72F2A2169B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966ADDA-BBFC-93E6-3F64-37D45DC90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99D113-47DD-BA33-274C-9F9D5F49B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B928-CB30-4C8D-B0A6-E91C384ADE3B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FE794E-39E7-196D-E330-23789829F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DD27DE-349D-765E-88AF-C3CC2982D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3BD7-A2BE-473D-BEA8-BF2845EEA4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9116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E9B401-B913-B4D4-847B-9527FFD32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87AD92-9944-F4A0-2054-C18BB7E97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4221E0-18DD-F7EF-B8A1-8B708D804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B928-CB30-4C8D-B0A6-E91C384ADE3B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F6444D-96C9-DF7A-FB73-1149E8F2F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0042ED-2D29-84F6-9014-AB01DF7EC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3BD7-A2BE-473D-BEA8-BF2845EEA4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379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F10F20-5807-6C45-F852-04945C175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4AA7D1-CE12-CB73-0AD1-F89EE1047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B576E7-A10F-26CA-B55A-F9E2D690D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B928-CB30-4C8D-B0A6-E91C384ADE3B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88CC32-3747-C3D1-1D43-548002D4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7FD82C-065F-60B7-992A-7CDB2C9A1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3BD7-A2BE-473D-BEA8-BF2845EEA4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0106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AE60A6-CCAF-7D3F-E1BF-8773D34A8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4C591C-70CD-2CF0-B317-FE00C3899A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79DA08A-2859-C3FC-FF5F-68FBCE998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2450400-9AF6-F584-F5B2-EC8947966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B928-CB30-4C8D-B0A6-E91C384ADE3B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D72F9C9-0B21-B637-D84E-C5B0E0755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3A786F0-66FC-61E9-5899-81D87F6AB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3BD7-A2BE-473D-BEA8-BF2845EEA4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8802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D80B69-344B-F94E-F995-89AB42239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7D192DA-7A51-0B8C-8918-96857A82B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ECA9E2C-37FD-5C85-DB6A-6A80F7264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568EA75-0989-B10E-88AA-04B423D9DF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8E0394C-1409-AEED-F5BE-92071938AE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21B8099-66DF-B419-AEEF-FC661038B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B928-CB30-4C8D-B0A6-E91C384ADE3B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FCF1F1C-34BD-805F-7CF3-914BBA6E0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1C1B300-FD9C-5ACF-A1CC-AD38BE639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3BD7-A2BE-473D-BEA8-BF2845EEA4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8062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BDF16E-C072-DBD0-C4C6-3EDF7B32C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AFB346B-7378-3B66-02ED-8EF53BF27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B928-CB30-4C8D-B0A6-E91C384ADE3B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764CE64-3AE1-9027-C0C8-A1DFED1F8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A2C5BFD-8ED0-2F9D-3659-C30EDC38B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3BD7-A2BE-473D-BEA8-BF2845EEA4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5159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2F79803-9794-67F0-3061-0BF5968C9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B928-CB30-4C8D-B0A6-E91C384ADE3B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53BC167-987A-7167-0083-A0D625E1C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E195294-F161-3761-D3DB-818933971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3BD7-A2BE-473D-BEA8-BF2845EEA4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7923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E7384C-9215-0DFB-A5AB-16F875D85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35BD22-1649-86B7-B1B8-A63855E40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F43D3B0-8447-0B9C-6383-A6C32131A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026C3DF-67C7-0435-6EE5-2468F1AB1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B928-CB30-4C8D-B0A6-E91C384ADE3B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805248F-02EE-2936-C936-6B44D54F9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972EE91-D5BB-6098-1FBB-5307B0FDA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3BD7-A2BE-473D-BEA8-BF2845EEA4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8727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0A3235-1222-0BF2-7F57-D299862DF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FA490C7-2F19-CC2A-D8B5-0058FC55C6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0CC3AB1-9AF2-AE17-D4A1-94BCBF1C68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602B09B-0E9D-82F3-2F72-8126027BD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B928-CB30-4C8D-B0A6-E91C384ADE3B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D0CAAD7-7310-2E09-797D-B072DF2EC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1003A39-F42C-04FE-67AD-6E209E3EC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3BD7-A2BE-473D-BEA8-BF2845EEA4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3227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5BADDE-4489-7405-F4BB-150D0DF74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8AC219F-C0C2-E110-04A8-56480DB19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049955-34B6-E54E-6AE1-62FE57C36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B928-CB30-4C8D-B0A6-E91C384ADE3B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D612CFB-5A6E-A247-9B0E-D3AE885A3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659395-EA4A-B85E-CE80-593D7ACA4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3BD7-A2BE-473D-BEA8-BF2845EEA4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072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B8E375F-16AB-9207-1BA6-216D763027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02F8C05-C689-C370-56B8-BE2160400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8C7A76-8296-B3A7-C6C5-FD96BDA06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B928-CB30-4C8D-B0A6-E91C384ADE3B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2EFCA0-5106-B95D-731C-E743C953D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9A9D6A-704F-402A-72A2-530E7ED95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3BD7-A2BE-473D-BEA8-BF2845EEA4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014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2AE29F8-5DC8-8C88-D413-2E9114E2E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9E0C85-F62B-5624-AFC4-3F06A23C4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FF8DBB-3EF5-3737-337A-7023A9C436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E9B928-CB30-4C8D-B0A6-E91C384ADE3B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AFF65C-64C0-84AF-6608-221C930BAF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C39770-5D9C-8A7F-426B-F20330711E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A33BD7-A2BE-473D-BEA8-BF2845EEA4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958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16D265-AF9B-4334-A7F1-49CBA9C6C7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Anbindung</a:t>
            </a:r>
            <a:r>
              <a:rPr lang="en-GB" dirty="0"/>
              <a:t> von </a:t>
            </a:r>
            <a:r>
              <a:rPr lang="en-GB" dirty="0" err="1"/>
              <a:t>Datenbanken</a:t>
            </a:r>
            <a:r>
              <a:rPr lang="en-GB" dirty="0"/>
              <a:t> an Python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94B4E68-5569-8508-3C2F-B94A57D343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12.12.2025</a:t>
            </a:r>
          </a:p>
        </p:txBody>
      </p:sp>
    </p:spTree>
    <p:extLst>
      <p:ext uri="{BB962C8B-B14F-4D97-AF65-F5344CB8AC3E}">
        <p14:creationId xmlns:p14="http://schemas.microsoft.com/office/powerpoint/2010/main" val="4274358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013D84-D91B-493D-DC09-DD5CA72E2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8010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Anbindung</a:t>
            </a:r>
            <a:r>
              <a:rPr lang="en-GB" dirty="0"/>
              <a:t> von SQL-Server an Python</a:t>
            </a:r>
          </a:p>
        </p:txBody>
      </p:sp>
      <p:sp>
        <p:nvSpPr>
          <p:cNvPr id="4" name="Flussdiagramm: Magnetplattenspeicher 3">
            <a:extLst>
              <a:ext uri="{FF2B5EF4-FFF2-40B4-BE49-F238E27FC236}">
                <a16:creationId xmlns:a16="http://schemas.microsoft.com/office/drawing/2014/main" id="{E71F9923-D97B-C08B-7EA7-973E84ED168E}"/>
              </a:ext>
            </a:extLst>
          </p:cNvPr>
          <p:cNvSpPr/>
          <p:nvPr/>
        </p:nvSpPr>
        <p:spPr>
          <a:xfrm>
            <a:off x="1286539" y="4101153"/>
            <a:ext cx="2222205" cy="866554"/>
          </a:xfrm>
          <a:prstGeom prst="flowChartMagneticDisk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Daten</a:t>
            </a:r>
            <a:r>
              <a:rPr lang="en-GB" dirty="0"/>
              <a:t> in DB</a:t>
            </a:r>
          </a:p>
        </p:txBody>
      </p:sp>
      <p:sp>
        <p:nvSpPr>
          <p:cNvPr id="5" name="Pfeil: nach rechts 4">
            <a:extLst>
              <a:ext uri="{FF2B5EF4-FFF2-40B4-BE49-F238E27FC236}">
                <a16:creationId xmlns:a16="http://schemas.microsoft.com/office/drawing/2014/main" id="{C57D0B66-EC2D-A51B-F138-1D006FE305F0}"/>
              </a:ext>
            </a:extLst>
          </p:cNvPr>
          <p:cNvSpPr/>
          <p:nvPr/>
        </p:nvSpPr>
        <p:spPr>
          <a:xfrm rot="16200000">
            <a:off x="1813759" y="2718863"/>
            <a:ext cx="1360967" cy="1093346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SQL Alchemy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FD360B7-3E53-C4A4-A117-F465E12645F8}"/>
              </a:ext>
            </a:extLst>
          </p:cNvPr>
          <p:cNvSpPr/>
          <p:nvPr/>
        </p:nvSpPr>
        <p:spPr>
          <a:xfrm>
            <a:off x="1286539" y="1563366"/>
            <a:ext cx="2535865" cy="866554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Variable </a:t>
            </a:r>
            <a:r>
              <a:rPr lang="en-GB"/>
              <a:t>in Python</a:t>
            </a:r>
            <a:endParaRPr lang="en-GB" dirty="0"/>
          </a:p>
        </p:txBody>
      </p:sp>
      <p:pic>
        <p:nvPicPr>
          <p:cNvPr id="8" name="Grafik 7" descr="Ein Bild, das Text, Schrift, Diagramm, Logo enthält.&#10;&#10;KI-generierte Inhalte können fehlerhaft sein.">
            <a:extLst>
              <a:ext uri="{FF2B5EF4-FFF2-40B4-BE49-F238E27FC236}">
                <a16:creationId xmlns:a16="http://schemas.microsoft.com/office/drawing/2014/main" id="{C9739418-BFAC-7DA9-BD85-0C03C0A30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414" y="5034160"/>
            <a:ext cx="3372865" cy="1458714"/>
          </a:xfrm>
          <a:prstGeom prst="rect">
            <a:avLst/>
          </a:prstGeom>
        </p:spPr>
      </p:pic>
      <p:sp>
        <p:nvSpPr>
          <p:cNvPr id="9" name="Flussdiagramm: Magnetplattenspeicher 8">
            <a:extLst>
              <a:ext uri="{FF2B5EF4-FFF2-40B4-BE49-F238E27FC236}">
                <a16:creationId xmlns:a16="http://schemas.microsoft.com/office/drawing/2014/main" id="{873DA7C9-C3BD-899A-BC3E-62B95CA3A17C}"/>
              </a:ext>
            </a:extLst>
          </p:cNvPr>
          <p:cNvSpPr/>
          <p:nvPr/>
        </p:nvSpPr>
        <p:spPr>
          <a:xfrm>
            <a:off x="7150396" y="4167606"/>
            <a:ext cx="3413051" cy="866554"/>
          </a:xfrm>
          <a:prstGeom prst="flowChartMagneticDisk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DBMS</a:t>
            </a:r>
          </a:p>
        </p:txBody>
      </p:sp>
      <p:sp>
        <p:nvSpPr>
          <p:cNvPr id="10" name="Flussdiagramm: Magnetplattenspeicher 9">
            <a:extLst>
              <a:ext uri="{FF2B5EF4-FFF2-40B4-BE49-F238E27FC236}">
                <a16:creationId xmlns:a16="http://schemas.microsoft.com/office/drawing/2014/main" id="{A3FE5F69-F690-28A3-2DF3-788DCE1E4B26}"/>
              </a:ext>
            </a:extLst>
          </p:cNvPr>
          <p:cNvSpPr/>
          <p:nvPr/>
        </p:nvSpPr>
        <p:spPr>
          <a:xfrm>
            <a:off x="7150397" y="5272431"/>
            <a:ext cx="1568302" cy="866554"/>
          </a:xfrm>
          <a:prstGeom prst="flowChartMagneticDisk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DataFile</a:t>
            </a:r>
            <a:endParaRPr lang="en-GB" dirty="0"/>
          </a:p>
        </p:txBody>
      </p:sp>
      <p:sp>
        <p:nvSpPr>
          <p:cNvPr id="12" name="Flussdiagramm: Magnetplattenspeicher 11">
            <a:extLst>
              <a:ext uri="{FF2B5EF4-FFF2-40B4-BE49-F238E27FC236}">
                <a16:creationId xmlns:a16="http://schemas.microsoft.com/office/drawing/2014/main" id="{29C6FC31-EFA6-9348-B133-CDE4BA4B888A}"/>
              </a:ext>
            </a:extLst>
          </p:cNvPr>
          <p:cNvSpPr/>
          <p:nvPr/>
        </p:nvSpPr>
        <p:spPr>
          <a:xfrm>
            <a:off x="8995145" y="5272431"/>
            <a:ext cx="1568302" cy="866554"/>
          </a:xfrm>
          <a:prstGeom prst="flowChartMagneticDisk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LogFile</a:t>
            </a:r>
            <a:endParaRPr lang="en-GB" dirty="0"/>
          </a:p>
        </p:txBody>
      </p:sp>
      <p:sp>
        <p:nvSpPr>
          <p:cNvPr id="13" name="Flussdiagramm: Magnetplattenspeicher 12">
            <a:extLst>
              <a:ext uri="{FF2B5EF4-FFF2-40B4-BE49-F238E27FC236}">
                <a16:creationId xmlns:a16="http://schemas.microsoft.com/office/drawing/2014/main" id="{8CA4C1A2-6CF9-1933-0AAD-D9ADAB87536A}"/>
              </a:ext>
            </a:extLst>
          </p:cNvPr>
          <p:cNvSpPr/>
          <p:nvPr/>
        </p:nvSpPr>
        <p:spPr>
          <a:xfrm>
            <a:off x="7150395" y="3459244"/>
            <a:ext cx="3413051" cy="866554"/>
          </a:xfrm>
          <a:prstGeom prst="flowChartMagneticDisk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ODBC</a:t>
            </a:r>
          </a:p>
        </p:txBody>
      </p:sp>
      <p:sp>
        <p:nvSpPr>
          <p:cNvPr id="14" name="Flussdiagramm: Magnetplattenspeicher 13">
            <a:extLst>
              <a:ext uri="{FF2B5EF4-FFF2-40B4-BE49-F238E27FC236}">
                <a16:creationId xmlns:a16="http://schemas.microsoft.com/office/drawing/2014/main" id="{9F1081DF-9E58-130F-D9C1-BFFE7292A9F3}"/>
              </a:ext>
            </a:extLst>
          </p:cNvPr>
          <p:cNvSpPr/>
          <p:nvPr/>
        </p:nvSpPr>
        <p:spPr>
          <a:xfrm>
            <a:off x="7201787" y="2752131"/>
            <a:ext cx="3413051" cy="866554"/>
          </a:xfrm>
          <a:prstGeom prst="flowChartMagneticDisk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Alchemy</a:t>
            </a:r>
          </a:p>
        </p:txBody>
      </p:sp>
      <p:pic>
        <p:nvPicPr>
          <p:cNvPr id="16" name="Grafik 15" descr="Ein Bild, das Logo, Schrift, Text, Symbol enthält.&#10;&#10;KI-generierte Inhalte können fehlerhaft sein.">
            <a:extLst>
              <a:ext uri="{FF2B5EF4-FFF2-40B4-BE49-F238E27FC236}">
                <a16:creationId xmlns:a16="http://schemas.microsoft.com/office/drawing/2014/main" id="{3CB54E8D-8D3A-0587-E4C7-44E33DA75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654" y="1189817"/>
            <a:ext cx="942982" cy="117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886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D5B9E4-79DF-1AA1-0548-8F540C1AE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3205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Einfache</a:t>
            </a:r>
            <a:r>
              <a:rPr lang="en-GB" dirty="0"/>
              <a:t> </a:t>
            </a:r>
            <a:r>
              <a:rPr lang="en-GB" dirty="0" err="1"/>
              <a:t>Anbindung</a:t>
            </a:r>
            <a:r>
              <a:rPr lang="en-GB" dirty="0"/>
              <a:t> 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76A4AF96-27B0-A6D6-4641-7193041331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760346"/>
              </p:ext>
            </p:extLst>
          </p:nvPr>
        </p:nvGraphicFramePr>
        <p:xfrm>
          <a:off x="882502" y="1299141"/>
          <a:ext cx="10850526" cy="4770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51005">
                  <a:extLst>
                    <a:ext uri="{9D8B030D-6E8A-4147-A177-3AD203B41FA5}">
                      <a16:colId xmlns:a16="http://schemas.microsoft.com/office/drawing/2014/main" val="2159777127"/>
                    </a:ext>
                  </a:extLst>
                </a:gridCol>
                <a:gridCol w="6799521">
                  <a:extLst>
                    <a:ext uri="{9D8B030D-6E8A-4147-A177-3AD203B41FA5}">
                      <a16:colId xmlns:a16="http://schemas.microsoft.com/office/drawing/2014/main" val="935185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Schritt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Resultat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265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92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>
                          <a:highlight>
                            <a:srgbClr val="FFFF00"/>
                          </a:highlight>
                        </a:rPr>
                        <a:t>Installieren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 der </a:t>
                      </a:r>
                      <a:r>
                        <a:rPr lang="en-GB" dirty="0" err="1">
                          <a:highlight>
                            <a:srgbClr val="FFFF00"/>
                          </a:highlight>
                        </a:rPr>
                        <a:t>benötigten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GB" dirty="0" err="1">
                          <a:highlight>
                            <a:srgbClr val="FFFF00"/>
                          </a:highlight>
                        </a:rPr>
                        <a:t>Bibliotheken</a:t>
                      </a:r>
                      <a:endParaRPr lang="en-GB" dirty="0">
                        <a:highlight>
                          <a:srgbClr val="FFFF00"/>
                        </a:highlight>
                      </a:endParaRPr>
                    </a:p>
                    <a:p>
                      <a:endParaRPr lang="en-GB" dirty="0"/>
                    </a:p>
                    <a:p>
                      <a:r>
                        <a:rPr lang="de-DE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Benötigte Pakete installieren</a:t>
                      </a:r>
                    </a:p>
                    <a:p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 benötigst folgende Python-Pakete:</a:t>
                      </a:r>
                    </a:p>
                    <a:p>
                      <a:pPr lvl="0"/>
                      <a:r>
                        <a:rPr lang="de-DE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sqlalchemy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Das ORM-Toolkit</a:t>
                      </a:r>
                    </a:p>
                    <a:p>
                      <a:pPr lvl="0"/>
                      <a:r>
                        <a:rPr lang="de-DE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pyodbc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Der Treiber für die Verbindung zu SQL Server</a:t>
                      </a:r>
                    </a:p>
                    <a:p>
                      <a:pPr lvl="0"/>
                      <a:endParaRPr lang="de-DE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Installiere die Pakete mit </a:t>
                      </a:r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pip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pip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install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sqlalchemy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pyodbc</a:t>
                      </a:r>
                      <a:endParaRPr lang="de-DE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001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803136"/>
                  </a:ext>
                </a:extLst>
              </a:tr>
            </a:tbl>
          </a:graphicData>
        </a:graphic>
      </p:graphicFrame>
      <p:pic>
        <p:nvPicPr>
          <p:cNvPr id="6" name="Grafik 5">
            <a:extLst>
              <a:ext uri="{FF2B5EF4-FFF2-40B4-BE49-F238E27FC236}">
                <a16:creationId xmlns:a16="http://schemas.microsoft.com/office/drawing/2014/main" id="{E3FE86D1-9FAC-7749-8CB0-39E05D718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955" y="2176788"/>
            <a:ext cx="3733827" cy="150496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5F0275A-30B9-1DC7-20DE-F7D11B1E5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3955" y="3849502"/>
            <a:ext cx="6648499" cy="161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30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2F2C6-B231-9F63-A542-97D0C8B1E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61383B-7699-B84B-9CA4-C9DBDAA3A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3205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Einfache</a:t>
            </a:r>
            <a:r>
              <a:rPr lang="en-GB" dirty="0"/>
              <a:t> </a:t>
            </a:r>
            <a:r>
              <a:rPr lang="en-GB" dirty="0" err="1"/>
              <a:t>Anbindung</a:t>
            </a:r>
            <a:r>
              <a:rPr lang="en-GB" dirty="0"/>
              <a:t> 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36DF443A-A094-EE15-67DF-284C669641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268780"/>
              </p:ext>
            </p:extLst>
          </p:nvPr>
        </p:nvGraphicFramePr>
        <p:xfrm>
          <a:off x="882502" y="1299141"/>
          <a:ext cx="10850526" cy="53187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990907">
                  <a:extLst>
                    <a:ext uri="{9D8B030D-6E8A-4147-A177-3AD203B41FA5}">
                      <a16:colId xmlns:a16="http://schemas.microsoft.com/office/drawing/2014/main" val="2159777127"/>
                    </a:ext>
                  </a:extLst>
                </a:gridCol>
                <a:gridCol w="3859619">
                  <a:extLst>
                    <a:ext uri="{9D8B030D-6E8A-4147-A177-3AD203B41FA5}">
                      <a16:colId xmlns:a16="http://schemas.microsoft.com/office/drawing/2014/main" val="935185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Schritt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Resultat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265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92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Schritt 1: Verbindungs-String erstellen</a:t>
                      </a:r>
                    </a:p>
                    <a:p>
                      <a:endParaRPr lang="de-DE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Um SQL Server anzubinden, benötigst du einen Verbindungs-String. Das Standardformat für </a:t>
                      </a:r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SQLAlchemy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mit </a:t>
                      </a:r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pyodbc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lautet:</a:t>
                      </a:r>
                    </a:p>
                    <a:p>
                      <a:endParaRPr lang="de-DE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de-DE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Für SQL Server Authentifizierung:</a:t>
                      </a:r>
                      <a:endParaRPr lang="de-DE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mssql+pyodbc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://</a:t>
                      </a:r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username:password@server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database?driver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=ODBC+Driver+17+for+SQL+Server</a:t>
                      </a:r>
                    </a:p>
                    <a:p>
                      <a:endParaRPr lang="de-DE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username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Dein SQL Server Benutzername</a:t>
                      </a:r>
                    </a:p>
                    <a:p>
                      <a:pPr lvl="0"/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password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Das Passwort</a:t>
                      </a:r>
                    </a:p>
                    <a:p>
                      <a:pPr lvl="0"/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server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Name oder IP-Adresse des Servers (z.B. </a:t>
                      </a:r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localhost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\SQLEXPRESS)</a:t>
                      </a:r>
                    </a:p>
                    <a:p>
                      <a:pPr lvl="0"/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database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Name der Datenbank</a:t>
                      </a: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001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803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975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0DACD-A2B9-EB3D-BACD-0FFFC80B5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EA330-6B0B-A8A5-510B-70B4057A7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3205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Einfache</a:t>
            </a:r>
            <a:r>
              <a:rPr lang="en-GB" dirty="0"/>
              <a:t> </a:t>
            </a:r>
            <a:r>
              <a:rPr lang="en-GB" dirty="0" err="1"/>
              <a:t>Anbindung</a:t>
            </a:r>
            <a:r>
              <a:rPr lang="en-GB" dirty="0"/>
              <a:t> 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3BD17ADE-F89D-1BB8-1D88-8A1E0FBDF9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239605"/>
              </p:ext>
            </p:extLst>
          </p:nvPr>
        </p:nvGraphicFramePr>
        <p:xfrm>
          <a:off x="877186" y="900420"/>
          <a:ext cx="10850526" cy="54965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262577">
                  <a:extLst>
                    <a:ext uri="{9D8B030D-6E8A-4147-A177-3AD203B41FA5}">
                      <a16:colId xmlns:a16="http://schemas.microsoft.com/office/drawing/2014/main" val="2159777127"/>
                    </a:ext>
                  </a:extLst>
                </a:gridCol>
                <a:gridCol w="4587949">
                  <a:extLst>
                    <a:ext uri="{9D8B030D-6E8A-4147-A177-3AD203B41FA5}">
                      <a16:colId xmlns:a16="http://schemas.microsoft.com/office/drawing/2014/main" val="935185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Schritt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Resultat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265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92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Schritt 1: Verbindungs-String erstellen</a:t>
                      </a:r>
                    </a:p>
                    <a:p>
                      <a:endParaRPr lang="de-DE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de-DE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 Server mit Windows-Authentifizierung anbinden</a:t>
                      </a:r>
                    </a:p>
                    <a:p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Wenn du die Windows-Authentifizierung (Integrated Security) nutzen möchtest, entfällt die Eingabe von Benutzername und Passwort. Stattdessen wird der aktuell angemeldete Windows-Account zur Authentifizierung verwendet.</a:t>
                      </a:r>
                    </a:p>
                    <a:p>
                      <a:endParaRPr lang="de-DE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de-DE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Beispiel-Verbindungs-String für Windows-Authentifizierung:</a:t>
                      </a:r>
                      <a:endParaRPr lang="de-DE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mssql+pyodbc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://@localhost/TestDB?driver=ODBC+Driver+17+for+SQL+Server;Trusted_Connection=yes</a:t>
                      </a:r>
                    </a:p>
                    <a:p>
                      <a:pPr lvl="0"/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Vor dem @ bleibt das Feld für Benutzername und Passwort leer.</a:t>
                      </a:r>
                    </a:p>
                    <a:p>
                      <a:pPr lvl="0"/>
                      <a:endParaRPr lang="de-DE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de-DE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Trusted_Connection</a:t>
                      </a:r>
                      <a:r>
                        <a:rPr lang="de-DE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de-DE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sorgt dafür, dass Windows-Authentifizierung verwendet wird.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r>
                        <a:rPr lang="en-GB" dirty="0"/>
                        <a:t>engine = </a:t>
                      </a:r>
                      <a:r>
                        <a:rPr lang="en-GB" dirty="0" err="1"/>
                        <a:t>create_engine</a:t>
                      </a:r>
                      <a:r>
                        <a:rPr lang="en-GB" dirty="0"/>
                        <a:t>(</a:t>
                      </a:r>
                    </a:p>
                    <a:p>
                      <a:r>
                        <a:rPr lang="en-GB" dirty="0"/>
                        <a:t>    "</a:t>
                      </a:r>
                      <a:r>
                        <a:rPr lang="en-GB" dirty="0" err="1"/>
                        <a:t>mssql+pyodbc</a:t>
                      </a:r>
                      <a:r>
                        <a:rPr lang="en-GB" dirty="0"/>
                        <a:t>:///?</a:t>
                      </a:r>
                      <a:r>
                        <a:rPr lang="en-GB" dirty="0" err="1"/>
                        <a:t>odbc_connect</a:t>
                      </a:r>
                      <a:r>
                        <a:rPr lang="en-GB" dirty="0"/>
                        <a:t>="</a:t>
                      </a:r>
                    </a:p>
                    <a:p>
                      <a:r>
                        <a:rPr lang="en-GB" dirty="0"/>
                        <a:t>    "Driver={ODBC Driver 17 for SQL Server};"</a:t>
                      </a:r>
                    </a:p>
                    <a:p>
                      <a:r>
                        <a:rPr lang="en-GB" dirty="0"/>
                        <a:t>    "Server=</a:t>
                      </a: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TABLET- </a:t>
                      </a:r>
                    </a:p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      T5SFU11Q\\SQLEXPRESS</a:t>
                      </a:r>
                      <a:r>
                        <a:rPr lang="en-GB" dirty="0"/>
                        <a:t>;"</a:t>
                      </a:r>
                    </a:p>
                    <a:p>
                      <a:r>
                        <a:rPr lang="en-GB" dirty="0"/>
                        <a:t>    "Database=</a:t>
                      </a: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test</a:t>
                      </a:r>
                      <a:r>
                        <a:rPr lang="en-GB" dirty="0"/>
                        <a:t>;"</a:t>
                      </a:r>
                    </a:p>
                    <a:p>
                      <a:r>
                        <a:rPr lang="en-GB" dirty="0"/>
                        <a:t>    "</a:t>
                      </a:r>
                      <a:r>
                        <a:rPr lang="en-GB" dirty="0" err="1"/>
                        <a:t>Trusted_Connection</a:t>
                      </a:r>
                      <a:r>
                        <a:rPr lang="en-GB" dirty="0"/>
                        <a:t>=yes;"</a:t>
                      </a:r>
                    </a:p>
                    <a:p>
                      <a:r>
                        <a:rPr lang="en-GB" dirty="0"/>
                        <a:t>)</a:t>
                      </a:r>
                    </a:p>
                    <a:p>
                      <a:endParaRPr lang="en-GB" dirty="0"/>
                    </a:p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Rot </a:t>
                      </a:r>
                      <a:r>
                        <a:rPr lang="en-GB" dirty="0" err="1">
                          <a:solidFill>
                            <a:srgbClr val="FF0000"/>
                          </a:solidFill>
                        </a:rPr>
                        <a:t>markierte</a:t>
                      </a: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GB" dirty="0" err="1">
                          <a:solidFill>
                            <a:srgbClr val="FF0000"/>
                          </a:solidFill>
                        </a:rPr>
                        <a:t>Einträge</a:t>
                      </a: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GB" dirty="0" err="1">
                          <a:solidFill>
                            <a:srgbClr val="FF0000"/>
                          </a:solidFill>
                        </a:rPr>
                        <a:t>sind</a:t>
                      </a: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GB" dirty="0" err="1">
                          <a:solidFill>
                            <a:srgbClr val="FF0000"/>
                          </a:solidFill>
                        </a:rPr>
                        <a:t>anzupassen</a:t>
                      </a:r>
                      <a:r>
                        <a:rPr lang="en-GB" dirty="0"/>
                        <a:t>.</a:t>
                      </a:r>
                    </a:p>
                    <a:p>
                      <a:endParaRPr lang="en-GB" dirty="0"/>
                    </a:p>
                    <a:p>
                      <a:r>
                        <a:rPr lang="en-GB" dirty="0"/>
                        <a:t>Server Name via SQL Server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001420"/>
                  </a:ext>
                </a:extLst>
              </a:tr>
            </a:tbl>
          </a:graphicData>
        </a:graphic>
      </p:graphicFrame>
      <p:pic>
        <p:nvPicPr>
          <p:cNvPr id="5" name="Grafik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8B6CC8C5-0E4C-DD89-D481-966BE0193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8618" y="5297340"/>
            <a:ext cx="3738025" cy="962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564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DAA66-FD33-7C97-73CE-51120937C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D98B9D-A534-9DEF-CF7B-4BE131C36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3205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Einfache</a:t>
            </a:r>
            <a:r>
              <a:rPr lang="en-GB" dirty="0"/>
              <a:t> </a:t>
            </a:r>
            <a:r>
              <a:rPr lang="en-GB" dirty="0" err="1"/>
              <a:t>Anbindung</a:t>
            </a:r>
            <a:r>
              <a:rPr lang="en-GB" dirty="0"/>
              <a:t> 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3BFEC922-DF70-7BED-F750-507A1D037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620889"/>
              </p:ext>
            </p:extLst>
          </p:nvPr>
        </p:nvGraphicFramePr>
        <p:xfrm>
          <a:off x="893135" y="900420"/>
          <a:ext cx="10834577" cy="57708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246628">
                  <a:extLst>
                    <a:ext uri="{9D8B030D-6E8A-4147-A177-3AD203B41FA5}">
                      <a16:colId xmlns:a16="http://schemas.microsoft.com/office/drawing/2014/main" val="2159777127"/>
                    </a:ext>
                  </a:extLst>
                </a:gridCol>
                <a:gridCol w="4587949">
                  <a:extLst>
                    <a:ext uri="{9D8B030D-6E8A-4147-A177-3AD203B41FA5}">
                      <a16:colId xmlns:a16="http://schemas.microsoft.com/office/drawing/2014/main" val="935185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0" dirty="0"/>
                        <a:t>Schritt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 err="1"/>
                        <a:t>Resultat</a:t>
                      </a:r>
                      <a:endParaRPr lang="en-GB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265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92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Schritt 2: Verbindung mit </a:t>
                      </a:r>
                      <a:r>
                        <a:rPr lang="de-DE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SQLAlchemy</a:t>
                      </a:r>
                      <a:r>
                        <a:rPr lang="de-DE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herstellen</a:t>
                      </a:r>
                    </a:p>
                    <a:p>
                      <a:endParaRPr lang="de-DE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connection</a:t>
                      </a: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engine.connect</a:t>
                      </a: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endParaRPr lang="de-DE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("Verbindung erfolgreich über Windows-Authentifizierung!")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b="0" dirty="0"/>
                    </a:p>
                    <a:p>
                      <a:r>
                        <a:rPr lang="en-GB" b="0" dirty="0"/>
                        <a:t>engine = </a:t>
                      </a:r>
                      <a:r>
                        <a:rPr lang="en-GB" b="0" dirty="0" err="1"/>
                        <a:t>create_engine</a:t>
                      </a:r>
                      <a:r>
                        <a:rPr lang="en-GB" b="0" dirty="0"/>
                        <a:t>(</a:t>
                      </a:r>
                    </a:p>
                    <a:p>
                      <a:r>
                        <a:rPr lang="en-GB" b="0" dirty="0"/>
                        <a:t>    "</a:t>
                      </a:r>
                      <a:r>
                        <a:rPr lang="en-GB" b="0" dirty="0" err="1"/>
                        <a:t>mssql+pyodbc</a:t>
                      </a:r>
                      <a:r>
                        <a:rPr lang="en-GB" b="0" dirty="0"/>
                        <a:t>:///?</a:t>
                      </a:r>
                      <a:r>
                        <a:rPr lang="en-GB" b="0" dirty="0" err="1"/>
                        <a:t>odbc_connect</a:t>
                      </a:r>
                      <a:r>
                        <a:rPr lang="en-GB" b="0" dirty="0"/>
                        <a:t>="</a:t>
                      </a:r>
                    </a:p>
                    <a:p>
                      <a:r>
                        <a:rPr lang="en-GB" b="0" dirty="0"/>
                        <a:t>    "Driver={ODBC Driver 17 for SQL Server};"</a:t>
                      </a:r>
                    </a:p>
                    <a:p>
                      <a:r>
                        <a:rPr lang="en-GB" b="0" dirty="0"/>
                        <a:t>    "Server=</a:t>
                      </a:r>
                      <a:r>
                        <a:rPr lang="en-GB" b="0" dirty="0">
                          <a:solidFill>
                            <a:srgbClr val="FF0000"/>
                          </a:solidFill>
                        </a:rPr>
                        <a:t>TABLET- </a:t>
                      </a:r>
                    </a:p>
                    <a:p>
                      <a:r>
                        <a:rPr lang="en-GB" b="0" dirty="0">
                          <a:solidFill>
                            <a:srgbClr val="FF0000"/>
                          </a:solidFill>
                        </a:rPr>
                        <a:t>      T5SFU11Q\\SQLEXPRESS</a:t>
                      </a:r>
                      <a:r>
                        <a:rPr lang="en-GB" b="0" dirty="0"/>
                        <a:t>;"</a:t>
                      </a:r>
                    </a:p>
                    <a:p>
                      <a:r>
                        <a:rPr lang="en-GB" b="0" dirty="0"/>
                        <a:t>    "Database=</a:t>
                      </a:r>
                      <a:r>
                        <a:rPr lang="en-GB" b="0" dirty="0">
                          <a:solidFill>
                            <a:srgbClr val="FF0000"/>
                          </a:solidFill>
                        </a:rPr>
                        <a:t>test</a:t>
                      </a:r>
                      <a:r>
                        <a:rPr lang="en-GB" b="0" dirty="0"/>
                        <a:t>;"</a:t>
                      </a:r>
                    </a:p>
                    <a:p>
                      <a:r>
                        <a:rPr lang="en-GB" b="0" dirty="0"/>
                        <a:t>    "</a:t>
                      </a:r>
                      <a:r>
                        <a:rPr lang="en-GB" b="0" dirty="0" err="1"/>
                        <a:t>Trusted_Connection</a:t>
                      </a:r>
                      <a:r>
                        <a:rPr lang="en-GB" b="0" dirty="0"/>
                        <a:t>=yes;"</a:t>
                      </a:r>
                    </a:p>
                    <a:p>
                      <a:r>
                        <a:rPr lang="en-GB" b="0" dirty="0"/>
                        <a:t>)</a:t>
                      </a:r>
                    </a:p>
                    <a:p>
                      <a:endParaRPr lang="en-GB" b="0" dirty="0"/>
                    </a:p>
                    <a:p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connection</a:t>
                      </a: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engine.connect</a:t>
                      </a: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endParaRPr lang="de-DE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("Verbindung erfolgreich über Windows-Authentifizierung!")</a:t>
                      </a:r>
                    </a:p>
                    <a:p>
                      <a:endParaRPr lang="en-GB" b="0" dirty="0"/>
                    </a:p>
                    <a:p>
                      <a:r>
                        <a:rPr lang="en-GB" b="0" dirty="0">
                          <a:solidFill>
                            <a:srgbClr val="FF0000"/>
                          </a:solidFill>
                        </a:rPr>
                        <a:t>Rot </a:t>
                      </a:r>
                      <a:r>
                        <a:rPr lang="en-GB" b="0" dirty="0" err="1">
                          <a:solidFill>
                            <a:srgbClr val="FF0000"/>
                          </a:solidFill>
                        </a:rPr>
                        <a:t>markierte</a:t>
                      </a:r>
                      <a:r>
                        <a:rPr lang="en-GB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GB" b="0" dirty="0" err="1">
                          <a:solidFill>
                            <a:srgbClr val="FF0000"/>
                          </a:solidFill>
                        </a:rPr>
                        <a:t>Einträge</a:t>
                      </a:r>
                      <a:r>
                        <a:rPr lang="en-GB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GB" b="0" dirty="0" err="1">
                          <a:solidFill>
                            <a:srgbClr val="FF0000"/>
                          </a:solidFill>
                        </a:rPr>
                        <a:t>sind</a:t>
                      </a:r>
                      <a:r>
                        <a:rPr lang="en-GB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GB" b="0" dirty="0" err="1">
                          <a:solidFill>
                            <a:srgbClr val="FF0000"/>
                          </a:solidFill>
                        </a:rPr>
                        <a:t>anzupassen</a:t>
                      </a:r>
                      <a:r>
                        <a:rPr lang="en-GB" b="0" dirty="0"/>
                        <a:t>.</a:t>
                      </a:r>
                    </a:p>
                    <a:p>
                      <a:endParaRPr lang="en-GB" b="0" dirty="0"/>
                    </a:p>
                    <a:p>
                      <a:endParaRPr lang="en-GB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001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6643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5C474-3DE0-7414-F17B-D1F0B7426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B34BBF-8F00-F4B9-11B0-F6FEA3309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3205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Einfache</a:t>
            </a:r>
            <a:r>
              <a:rPr lang="en-GB" dirty="0"/>
              <a:t> </a:t>
            </a:r>
            <a:r>
              <a:rPr lang="en-GB" dirty="0" err="1"/>
              <a:t>Anbindung</a:t>
            </a:r>
            <a:r>
              <a:rPr lang="en-GB" dirty="0"/>
              <a:t> 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C101F277-326A-AFDD-C0ED-F5563E990E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413750"/>
              </p:ext>
            </p:extLst>
          </p:nvPr>
        </p:nvGraphicFramePr>
        <p:xfrm>
          <a:off x="893135" y="900420"/>
          <a:ext cx="10834577" cy="43992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246628">
                  <a:extLst>
                    <a:ext uri="{9D8B030D-6E8A-4147-A177-3AD203B41FA5}">
                      <a16:colId xmlns:a16="http://schemas.microsoft.com/office/drawing/2014/main" val="2159777127"/>
                    </a:ext>
                  </a:extLst>
                </a:gridCol>
                <a:gridCol w="4587949">
                  <a:extLst>
                    <a:ext uri="{9D8B030D-6E8A-4147-A177-3AD203B41FA5}">
                      <a16:colId xmlns:a16="http://schemas.microsoft.com/office/drawing/2014/main" val="935185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0" dirty="0"/>
                        <a:t>Schritt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 err="1"/>
                        <a:t>Resultat</a:t>
                      </a:r>
                      <a:endParaRPr lang="en-GB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265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92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Schritt 3: Arbeiten</a:t>
                      </a:r>
                    </a:p>
                    <a:p>
                      <a:endParaRPr lang="de-DE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Tabelle erstellen</a:t>
                      </a:r>
                    </a:p>
                    <a:p>
                      <a:endParaRPr lang="de-DE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GB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 </a:t>
                      </a:r>
                      <a:r>
                        <a:rPr lang="en-GB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sqlalchemy</a:t>
                      </a:r>
                      <a:r>
                        <a:rPr lang="en-GB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import Table, Column, Integer, String, </a:t>
                      </a:r>
                      <a:r>
                        <a:rPr lang="en-GB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MetaData</a:t>
                      </a:r>
                      <a:endParaRPr lang="en-GB" sz="1800" b="0" i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GB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metadata = </a:t>
                      </a:r>
                      <a:r>
                        <a:rPr lang="en-GB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MetaData</a:t>
                      </a:r>
                      <a:r>
                        <a:rPr lang="en-GB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r>
                        <a:rPr lang="en-GB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users = Table('users', metadata,</a:t>
                      </a:r>
                    </a:p>
                    <a:p>
                      <a:r>
                        <a:rPr lang="en-GB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Column('id', Integer, </a:t>
                      </a:r>
                      <a:r>
                        <a:rPr lang="en-GB" sz="1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primary_key</a:t>
                      </a:r>
                      <a:r>
                        <a:rPr lang="en-GB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=True),</a:t>
                      </a:r>
                    </a:p>
                    <a:p>
                      <a:r>
                        <a:rPr lang="en-GB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Column('name', String),</a:t>
                      </a:r>
                    </a:p>
                    <a:p>
                      <a:r>
                        <a:rPr lang="en-GB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Column('age', Integer)</a:t>
                      </a:r>
                    </a:p>
                    <a:p>
                      <a:r>
                        <a:rPr lang="en-GB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endParaRPr lang="de-DE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b="0" dirty="0"/>
                    </a:p>
                    <a:p>
                      <a:endParaRPr lang="en-GB" b="0" dirty="0"/>
                    </a:p>
                    <a:p>
                      <a:endParaRPr lang="en-GB" b="0" dirty="0"/>
                    </a:p>
                    <a:p>
                      <a:endParaRPr lang="en-GB" b="0" dirty="0"/>
                    </a:p>
                    <a:p>
                      <a:r>
                        <a:rPr lang="en-GB" b="0" dirty="0" err="1"/>
                        <a:t>Tabelle</a:t>
                      </a:r>
                      <a:r>
                        <a:rPr lang="en-GB" b="0" dirty="0"/>
                        <a:t> </a:t>
                      </a:r>
                      <a:r>
                        <a:rPr lang="en-GB" b="0" dirty="0" err="1"/>
                        <a:t>wird</a:t>
                      </a:r>
                      <a:r>
                        <a:rPr lang="en-GB" b="0" dirty="0"/>
                        <a:t> </a:t>
                      </a:r>
                      <a:r>
                        <a:rPr lang="en-GB" b="0" dirty="0" err="1"/>
                        <a:t>erstellt</a:t>
                      </a:r>
                      <a:r>
                        <a:rPr lang="en-GB" b="0" dirty="0"/>
                        <a:t>, </a:t>
                      </a:r>
                      <a:r>
                        <a:rPr lang="en-GB" b="0" dirty="0" err="1"/>
                        <a:t>aber</a:t>
                      </a:r>
                      <a:r>
                        <a:rPr lang="en-GB" b="0" dirty="0"/>
                        <a:t> </a:t>
                      </a:r>
                      <a:r>
                        <a:rPr lang="en-GB" b="0" dirty="0" err="1"/>
                        <a:t>besser</a:t>
                      </a:r>
                      <a:r>
                        <a:rPr lang="en-GB" b="0" dirty="0"/>
                        <a:t> </a:t>
                      </a:r>
                      <a:r>
                        <a:rPr lang="en-GB" b="0" dirty="0" err="1"/>
                        <a:t>ist</a:t>
                      </a:r>
                      <a:r>
                        <a:rPr lang="en-GB" b="0" dirty="0"/>
                        <a:t> es, dies direct </a:t>
                      </a:r>
                      <a:r>
                        <a:rPr lang="en-GB" b="0" dirty="0" err="1"/>
                        <a:t>über</a:t>
                      </a:r>
                      <a:r>
                        <a:rPr lang="en-GB" b="0" dirty="0"/>
                        <a:t> SQL-Server </a:t>
                      </a:r>
                      <a:r>
                        <a:rPr lang="en-GB" b="0" dirty="0" err="1"/>
                        <a:t>zu</a:t>
                      </a:r>
                      <a:r>
                        <a:rPr lang="en-GB" b="0" dirty="0"/>
                        <a:t> tun</a:t>
                      </a:r>
                    </a:p>
                    <a:p>
                      <a:endParaRPr lang="en-GB" b="0" dirty="0"/>
                    </a:p>
                    <a:p>
                      <a:endParaRPr lang="en-GB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001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9292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ABD9B-5532-52A5-C258-911305641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FE5D56-7AED-915E-7D3D-980C402DD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3205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Einfache</a:t>
            </a:r>
            <a:r>
              <a:rPr lang="en-GB" dirty="0"/>
              <a:t> </a:t>
            </a:r>
            <a:r>
              <a:rPr lang="en-GB" dirty="0" err="1"/>
              <a:t>Anbindung</a:t>
            </a:r>
            <a:r>
              <a:rPr lang="en-GB" dirty="0"/>
              <a:t> 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2170B735-C937-91CB-7FCE-E35DAB17C7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243937"/>
              </p:ext>
            </p:extLst>
          </p:nvPr>
        </p:nvGraphicFramePr>
        <p:xfrm>
          <a:off x="893135" y="900420"/>
          <a:ext cx="10834577" cy="54965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427921">
                  <a:extLst>
                    <a:ext uri="{9D8B030D-6E8A-4147-A177-3AD203B41FA5}">
                      <a16:colId xmlns:a16="http://schemas.microsoft.com/office/drawing/2014/main" val="2159777127"/>
                    </a:ext>
                  </a:extLst>
                </a:gridCol>
                <a:gridCol w="5406656">
                  <a:extLst>
                    <a:ext uri="{9D8B030D-6E8A-4147-A177-3AD203B41FA5}">
                      <a16:colId xmlns:a16="http://schemas.microsoft.com/office/drawing/2014/main" val="935185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0" dirty="0"/>
                        <a:t>Schritt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 err="1"/>
                        <a:t>Resultat</a:t>
                      </a:r>
                      <a:endParaRPr lang="en-GB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265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92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Schritt 3: Arbeiten</a:t>
                      </a:r>
                    </a:p>
                    <a:p>
                      <a:endParaRPr lang="de-DE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de-DE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Daten einfügen</a:t>
                      </a:r>
                    </a:p>
                    <a:p>
                      <a:endParaRPr lang="de-DE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Klassischer Insert mit Session</a:t>
                      </a:r>
                    </a:p>
                    <a:p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Session(</a:t>
                      </a:r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engine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session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stmt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users.insert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().</a:t>
                      </a:r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values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(Inhalt="6")</a:t>
                      </a:r>
                    </a:p>
                    <a:p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session.execute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stmt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session.commit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  # wichtig, sonst bleibt der Eintrag ungespeichert</a:t>
                      </a:r>
                    </a:p>
                    <a:p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("Eintrag erfolgreich eingefügt!")</a:t>
                      </a:r>
                    </a:p>
                    <a:p>
                      <a:endParaRPr lang="de-DE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Schneller Insert</a:t>
                      </a:r>
                    </a:p>
                    <a:p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engine.begin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conn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 # </a:t>
                      </a:r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begin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sorgt für automatisches Commit</a:t>
                      </a:r>
                    </a:p>
                    <a:p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conn.execute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users.insert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().</a:t>
                      </a:r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values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(Inhalt=„9"))</a:t>
                      </a:r>
                    </a:p>
                    <a:p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de-D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("Eintrag erfolgreich eingefügt!")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b="0" dirty="0"/>
                    </a:p>
                    <a:p>
                      <a:endParaRPr lang="en-GB" b="0" dirty="0"/>
                    </a:p>
                    <a:p>
                      <a:endParaRPr lang="en-GB" b="0" dirty="0"/>
                    </a:p>
                    <a:p>
                      <a:endParaRPr lang="en-GB" b="0" dirty="0"/>
                    </a:p>
                    <a:p>
                      <a:endParaRPr lang="en-GB" b="0" dirty="0"/>
                    </a:p>
                    <a:p>
                      <a:r>
                        <a:rPr lang="en-GB" b="0" dirty="0"/>
                        <a:t>Meine </a:t>
                      </a:r>
                      <a:r>
                        <a:rPr lang="en-GB" b="0" dirty="0" err="1"/>
                        <a:t>Tabelle</a:t>
                      </a:r>
                      <a:r>
                        <a:rPr lang="en-GB" b="0" dirty="0"/>
                        <a:t> heist E_1.</a:t>
                      </a:r>
                    </a:p>
                    <a:p>
                      <a:r>
                        <a:rPr lang="en-GB" b="0" dirty="0"/>
                        <a:t>Mein Feld </a:t>
                      </a:r>
                      <a:r>
                        <a:rPr lang="en-GB" b="0" dirty="0" err="1"/>
                        <a:t>heisst</a:t>
                      </a:r>
                      <a:r>
                        <a:rPr lang="en-GB" b="0" dirty="0"/>
                        <a:t> </a:t>
                      </a:r>
                      <a:r>
                        <a:rPr lang="en-GB" b="0" dirty="0" err="1"/>
                        <a:t>Inhalt</a:t>
                      </a:r>
                      <a:endParaRPr lang="en-GB" b="0" dirty="0"/>
                    </a:p>
                    <a:p>
                      <a:endParaRPr lang="en-GB" b="0" dirty="0"/>
                    </a:p>
                    <a:p>
                      <a:endParaRPr lang="en-GB" b="0" dirty="0"/>
                    </a:p>
                    <a:p>
                      <a:endParaRPr lang="en-GB" b="0" dirty="0"/>
                    </a:p>
                    <a:p>
                      <a:endParaRPr lang="en-GB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001420"/>
                  </a:ext>
                </a:extLst>
              </a:tr>
            </a:tbl>
          </a:graphicData>
        </a:graphic>
      </p:graphicFrame>
      <p:pic>
        <p:nvPicPr>
          <p:cNvPr id="7" name="Grafik 6">
            <a:extLst>
              <a:ext uri="{FF2B5EF4-FFF2-40B4-BE49-F238E27FC236}">
                <a16:creationId xmlns:a16="http://schemas.microsoft.com/office/drawing/2014/main" id="{0A360ECB-A219-0635-9F7C-41F22F713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879" y="4120117"/>
            <a:ext cx="5140518" cy="43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818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07395-DB95-B113-7C58-F821C9295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3EBAA4-D105-8D40-1B86-157EF0ED6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3205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Einfache</a:t>
            </a:r>
            <a:r>
              <a:rPr lang="en-GB" dirty="0"/>
              <a:t> </a:t>
            </a:r>
            <a:r>
              <a:rPr lang="en-GB" dirty="0" err="1"/>
              <a:t>Anbindung</a:t>
            </a:r>
            <a:r>
              <a:rPr lang="en-GB" dirty="0"/>
              <a:t> 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2A8E97DD-ECF2-E388-8512-E590AFB505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156731"/>
              </p:ext>
            </p:extLst>
          </p:nvPr>
        </p:nvGraphicFramePr>
        <p:xfrm>
          <a:off x="893135" y="900420"/>
          <a:ext cx="10834577" cy="5527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565605">
                  <a:extLst>
                    <a:ext uri="{9D8B030D-6E8A-4147-A177-3AD203B41FA5}">
                      <a16:colId xmlns:a16="http://schemas.microsoft.com/office/drawing/2014/main" val="2159777127"/>
                    </a:ext>
                  </a:extLst>
                </a:gridCol>
                <a:gridCol w="4268972">
                  <a:extLst>
                    <a:ext uri="{9D8B030D-6E8A-4147-A177-3AD203B41FA5}">
                      <a16:colId xmlns:a16="http://schemas.microsoft.com/office/drawing/2014/main" val="935185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0" dirty="0"/>
                        <a:t>Schritt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 err="1"/>
                        <a:t>Resultat</a:t>
                      </a:r>
                      <a:endParaRPr lang="en-GB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265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92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Schritt 3: Arbeiten</a:t>
                      </a:r>
                    </a:p>
                    <a:p>
                      <a:endParaRPr lang="de-DE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de-DE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Daten abfragen</a:t>
                      </a:r>
                    </a:p>
                    <a:p>
                      <a:endParaRPr lang="de-CH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engine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create_engine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connection_string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endParaRPr lang="de-CH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# Metadaten laden</a:t>
                      </a:r>
                    </a:p>
                    <a:p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metadata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MetaData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metadata.reflect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(bind=</a:t>
                      </a:r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engine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endParaRPr lang="de-CH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# Tabelle '</a:t>
                      </a:r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users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 referenzieren</a:t>
                      </a:r>
                    </a:p>
                    <a:p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users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metadata.tables.get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("E_1")</a:t>
                      </a:r>
                    </a:p>
                    <a:p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if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users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None:</a:t>
                      </a:r>
                    </a:p>
                    <a:p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raise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ValueError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("Tabelle '</a:t>
                      </a:r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users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 nicht gefunden in der Datenbank.")</a:t>
                      </a:r>
                    </a:p>
                    <a:p>
                      <a:endParaRPr lang="de-CH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# Verbindung öffnen und Abfrage ausführen</a:t>
                      </a:r>
                    </a:p>
                    <a:p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with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engine.connect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conn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users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limit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(10)  # nur 10 Zeilen</a:t>
                      </a:r>
                    </a:p>
                    <a:p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result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conn.execute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row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in </a:t>
                      </a:r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result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row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._</a:t>
                      </a:r>
                      <a:r>
                        <a:rPr lang="de-CH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mapping</a:t>
                      </a:r>
                      <a:r>
                        <a:rPr lang="de-CH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["Inhalt"])  # Zugriff auf die Spalte 'Inhalt'</a:t>
                      </a:r>
                      <a:endParaRPr lang="de-CH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b="0" dirty="0"/>
                    </a:p>
                    <a:p>
                      <a:endParaRPr lang="en-GB" b="0" dirty="0"/>
                    </a:p>
                    <a:p>
                      <a:endParaRPr lang="en-GB" b="0" dirty="0"/>
                    </a:p>
                    <a:p>
                      <a:endParaRPr lang="en-GB" b="0" dirty="0"/>
                    </a:p>
                    <a:p>
                      <a:endParaRPr lang="en-GB" b="0" dirty="0"/>
                    </a:p>
                    <a:p>
                      <a:r>
                        <a:rPr lang="en-GB" b="0" dirty="0"/>
                        <a:t>Meine </a:t>
                      </a:r>
                      <a:r>
                        <a:rPr lang="en-GB" b="0" dirty="0" err="1"/>
                        <a:t>Tabelle</a:t>
                      </a:r>
                      <a:r>
                        <a:rPr lang="en-GB" b="0" dirty="0"/>
                        <a:t> </a:t>
                      </a:r>
                      <a:r>
                        <a:rPr lang="en-GB" b="0" dirty="0" err="1"/>
                        <a:t>heisst</a:t>
                      </a:r>
                      <a:r>
                        <a:rPr lang="en-GB" b="0" dirty="0"/>
                        <a:t> E_1.</a:t>
                      </a:r>
                    </a:p>
                    <a:p>
                      <a:r>
                        <a:rPr lang="en-GB" b="0" dirty="0"/>
                        <a:t>Mein Feld </a:t>
                      </a:r>
                      <a:r>
                        <a:rPr lang="en-GB" b="0" dirty="0" err="1"/>
                        <a:t>heisst</a:t>
                      </a:r>
                      <a:r>
                        <a:rPr lang="en-GB" b="0" dirty="0"/>
                        <a:t> </a:t>
                      </a:r>
                      <a:r>
                        <a:rPr lang="en-GB" b="0" dirty="0" err="1"/>
                        <a:t>Inhalt</a:t>
                      </a:r>
                      <a:endParaRPr lang="en-GB" b="0" dirty="0"/>
                    </a:p>
                    <a:p>
                      <a:endParaRPr lang="en-GB" b="0" dirty="0"/>
                    </a:p>
                    <a:p>
                      <a:endParaRPr lang="en-GB" b="0" dirty="0"/>
                    </a:p>
                    <a:p>
                      <a:endParaRPr lang="en-GB" b="0" dirty="0"/>
                    </a:p>
                    <a:p>
                      <a:endParaRPr lang="en-GB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001420"/>
                  </a:ext>
                </a:extLst>
              </a:tr>
            </a:tbl>
          </a:graphicData>
        </a:graphic>
      </p:graphicFrame>
      <p:pic>
        <p:nvPicPr>
          <p:cNvPr id="5" name="Grafik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2970C2C3-4DB2-28FD-EE34-34073BD5B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1289" y="3806456"/>
            <a:ext cx="3478393" cy="62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826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7EAAA-B2C2-653E-ACB3-CE34FA211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9F4A10-4C8F-A18E-28A9-8806DDAEF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3205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Einfache</a:t>
            </a:r>
            <a:r>
              <a:rPr lang="en-GB" dirty="0"/>
              <a:t> </a:t>
            </a:r>
            <a:r>
              <a:rPr lang="en-GB" dirty="0" err="1"/>
              <a:t>Anbindung</a:t>
            </a:r>
            <a:r>
              <a:rPr lang="en-GB" dirty="0"/>
              <a:t> 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258E0B70-0F3E-4D90-3A69-5E7447B963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736095"/>
              </p:ext>
            </p:extLst>
          </p:nvPr>
        </p:nvGraphicFramePr>
        <p:xfrm>
          <a:off x="893135" y="900420"/>
          <a:ext cx="10834577" cy="41249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565605">
                  <a:extLst>
                    <a:ext uri="{9D8B030D-6E8A-4147-A177-3AD203B41FA5}">
                      <a16:colId xmlns:a16="http://schemas.microsoft.com/office/drawing/2014/main" val="2159777127"/>
                    </a:ext>
                  </a:extLst>
                </a:gridCol>
                <a:gridCol w="4268972">
                  <a:extLst>
                    <a:ext uri="{9D8B030D-6E8A-4147-A177-3AD203B41FA5}">
                      <a16:colId xmlns:a16="http://schemas.microsoft.com/office/drawing/2014/main" val="935185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0" dirty="0"/>
                        <a:t>Schritt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 err="1"/>
                        <a:t>Resultat</a:t>
                      </a:r>
                      <a:endParaRPr lang="en-GB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265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92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Schritt 3: Arbeiten</a:t>
                      </a:r>
                    </a:p>
                    <a:p>
                      <a:endParaRPr lang="de-DE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de-DE" sz="18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Daten abfragen schneller</a:t>
                      </a:r>
                    </a:p>
                    <a:p>
                      <a:endParaRPr lang="de-DE" sz="1800" b="1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de-CH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metadata</a:t>
                      </a:r>
                      <a:r>
                        <a:rPr lang="de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de-CH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MetaData</a:t>
                      </a:r>
                      <a:r>
                        <a:rPr lang="de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r>
                        <a:rPr lang="de-CH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users</a:t>
                      </a:r>
                      <a:r>
                        <a:rPr lang="de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= Table("E_1", </a:t>
                      </a:r>
                      <a:r>
                        <a:rPr lang="de-CH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metadata</a:t>
                      </a:r>
                      <a:r>
                        <a:rPr lang="de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de-CH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autoload_with</a:t>
                      </a:r>
                      <a:r>
                        <a:rPr lang="de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de-CH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engine</a:t>
                      </a:r>
                      <a:r>
                        <a:rPr lang="de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endParaRPr lang="de-CH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de-CH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with</a:t>
                      </a:r>
                      <a:r>
                        <a:rPr lang="de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CH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engine.connect</a:t>
                      </a:r>
                      <a:r>
                        <a:rPr lang="de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  <a:r>
                        <a:rPr lang="de-CH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</a:t>
                      </a:r>
                      <a:r>
                        <a:rPr lang="de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CH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conn</a:t>
                      </a:r>
                      <a:r>
                        <a:rPr lang="de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r>
                        <a:rPr lang="de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de-CH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</a:t>
                      </a:r>
                      <a:r>
                        <a:rPr lang="de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de-CH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r>
                        <a:rPr lang="de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de-CH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users.c.Inhalt</a:t>
                      </a:r>
                      <a:r>
                        <a:rPr lang="de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  <a:r>
                        <a:rPr lang="de-CH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limit</a:t>
                      </a:r>
                      <a:r>
                        <a:rPr lang="de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(10)  # Nur relevante Spalte</a:t>
                      </a:r>
                    </a:p>
                    <a:p>
                      <a:r>
                        <a:rPr lang="de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de-CH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result</a:t>
                      </a:r>
                      <a:r>
                        <a:rPr lang="de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de-CH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conn.execute</a:t>
                      </a:r>
                      <a:r>
                        <a:rPr lang="de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de-CH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</a:t>
                      </a:r>
                      <a:r>
                        <a:rPr lang="de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de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de-CH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</a:t>
                      </a:r>
                      <a:r>
                        <a:rPr lang="de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CH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row</a:t>
                      </a:r>
                      <a:r>
                        <a:rPr lang="de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in </a:t>
                      </a:r>
                      <a:r>
                        <a:rPr lang="de-CH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result</a:t>
                      </a:r>
                      <a:r>
                        <a:rPr lang="de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r>
                        <a:rPr lang="de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de-CH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de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de-CH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row.Inhalt</a:t>
                      </a:r>
                      <a:r>
                        <a:rPr lang="de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 # Direktzugriff statt _</a:t>
                      </a:r>
                      <a:r>
                        <a:rPr lang="de-CH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mapping</a:t>
                      </a:r>
                      <a:endParaRPr lang="de-CH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b="0" dirty="0"/>
                    </a:p>
                    <a:p>
                      <a:endParaRPr lang="en-GB" b="0" dirty="0"/>
                    </a:p>
                    <a:p>
                      <a:endParaRPr lang="en-GB" b="0" dirty="0"/>
                    </a:p>
                    <a:p>
                      <a:endParaRPr lang="en-GB" b="0" dirty="0"/>
                    </a:p>
                    <a:p>
                      <a:endParaRPr lang="en-GB" b="0" dirty="0"/>
                    </a:p>
                    <a:p>
                      <a:r>
                        <a:rPr lang="en-GB" b="0" dirty="0"/>
                        <a:t>Meine </a:t>
                      </a:r>
                      <a:r>
                        <a:rPr lang="en-GB" b="0" dirty="0" err="1"/>
                        <a:t>Tabelle</a:t>
                      </a:r>
                      <a:r>
                        <a:rPr lang="en-GB" b="0" dirty="0"/>
                        <a:t> </a:t>
                      </a:r>
                      <a:r>
                        <a:rPr lang="en-GB" b="0" dirty="0" err="1"/>
                        <a:t>heisst</a:t>
                      </a:r>
                      <a:r>
                        <a:rPr lang="en-GB" b="0" dirty="0"/>
                        <a:t> E_1.</a:t>
                      </a:r>
                    </a:p>
                    <a:p>
                      <a:r>
                        <a:rPr lang="en-GB" b="0" dirty="0"/>
                        <a:t>Mein Feld </a:t>
                      </a:r>
                      <a:r>
                        <a:rPr lang="en-GB" b="0" dirty="0" err="1"/>
                        <a:t>heisst</a:t>
                      </a:r>
                      <a:r>
                        <a:rPr lang="en-GB" b="0" dirty="0"/>
                        <a:t> </a:t>
                      </a:r>
                      <a:r>
                        <a:rPr lang="en-GB" b="0" dirty="0" err="1"/>
                        <a:t>Inhalt</a:t>
                      </a:r>
                      <a:endParaRPr lang="en-GB" b="0" dirty="0"/>
                    </a:p>
                    <a:p>
                      <a:endParaRPr lang="en-GB" b="0" dirty="0"/>
                    </a:p>
                    <a:p>
                      <a:endParaRPr lang="en-GB" b="0" dirty="0"/>
                    </a:p>
                    <a:p>
                      <a:endParaRPr lang="en-GB" b="0" dirty="0"/>
                    </a:p>
                    <a:p>
                      <a:endParaRPr lang="en-GB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001420"/>
                  </a:ext>
                </a:extLst>
              </a:tr>
            </a:tbl>
          </a:graphicData>
        </a:graphic>
      </p:graphicFrame>
      <p:pic>
        <p:nvPicPr>
          <p:cNvPr id="6" name="Grafik 5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CE5CE956-88EA-1B09-4127-BD8E209B3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832" y="3810218"/>
            <a:ext cx="3810028" cy="116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666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38FB1-37C7-3919-96CE-13DFD3F07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05325A-CC83-67BC-FEDD-336B865CF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3205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Einfache</a:t>
            </a:r>
            <a:r>
              <a:rPr lang="en-GB" dirty="0"/>
              <a:t> </a:t>
            </a:r>
            <a:r>
              <a:rPr lang="en-GB" dirty="0" err="1"/>
              <a:t>Anbindung</a:t>
            </a:r>
            <a:r>
              <a:rPr lang="en-GB" dirty="0"/>
              <a:t> 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4E25E741-5027-BCDD-1F25-F4DC01FE9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617054"/>
              </p:ext>
            </p:extLst>
          </p:nvPr>
        </p:nvGraphicFramePr>
        <p:xfrm>
          <a:off x="903767" y="900420"/>
          <a:ext cx="10823945" cy="16560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417289">
                  <a:extLst>
                    <a:ext uri="{9D8B030D-6E8A-4147-A177-3AD203B41FA5}">
                      <a16:colId xmlns:a16="http://schemas.microsoft.com/office/drawing/2014/main" val="2159777127"/>
                    </a:ext>
                  </a:extLst>
                </a:gridCol>
                <a:gridCol w="5406656">
                  <a:extLst>
                    <a:ext uri="{9D8B030D-6E8A-4147-A177-3AD203B41FA5}">
                      <a16:colId xmlns:a16="http://schemas.microsoft.com/office/drawing/2014/main" val="935185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0" dirty="0"/>
                        <a:t>Schritt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 err="1"/>
                        <a:t>Resultat</a:t>
                      </a:r>
                      <a:endParaRPr lang="en-GB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265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92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Schritt 4: Connection </a:t>
                      </a:r>
                      <a:r>
                        <a:rPr lang="de-DE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schliessen</a:t>
                      </a:r>
                      <a:endParaRPr lang="de-DE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de-DE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de-CH" dirty="0" err="1"/>
                        <a:t>connection.close</a:t>
                      </a:r>
                      <a:r>
                        <a:rPr lang="de-CH" dirty="0"/>
                        <a:t>()</a:t>
                      </a:r>
                      <a:endParaRPr lang="de-DE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b="0" dirty="0"/>
                    </a:p>
                    <a:p>
                      <a:r>
                        <a:rPr lang="en-GB" b="0" dirty="0"/>
                        <a:t>Sehr </a:t>
                      </a:r>
                      <a:r>
                        <a:rPr lang="en-GB" b="0" dirty="0" err="1"/>
                        <a:t>wichtig</a:t>
                      </a:r>
                      <a:r>
                        <a:rPr lang="en-GB" b="0" dirty="0"/>
                        <a:t> </a:t>
                      </a:r>
                      <a:r>
                        <a:rPr lang="en-GB" b="0" dirty="0" err="1"/>
                        <a:t>ansonsten</a:t>
                      </a:r>
                      <a:r>
                        <a:rPr lang="en-GB" b="0" dirty="0"/>
                        <a:t> </a:t>
                      </a:r>
                      <a:r>
                        <a:rPr lang="en-GB" b="0" dirty="0" err="1"/>
                        <a:t>können</a:t>
                      </a:r>
                      <a:r>
                        <a:rPr lang="en-GB" b="0" dirty="0"/>
                        <a:t> Problem </a:t>
                      </a:r>
                      <a:r>
                        <a:rPr lang="en-GB" b="0" dirty="0" err="1"/>
                        <a:t>beim</a:t>
                      </a:r>
                      <a:r>
                        <a:rPr lang="en-GB" b="0" dirty="0"/>
                        <a:t> </a:t>
                      </a:r>
                      <a:r>
                        <a:rPr lang="en-GB" b="0" dirty="0" err="1"/>
                        <a:t>erneuten</a:t>
                      </a:r>
                      <a:r>
                        <a:rPr lang="en-GB" b="0" dirty="0"/>
                        <a:t> </a:t>
                      </a:r>
                      <a:r>
                        <a:rPr lang="en-GB" b="0" dirty="0" err="1"/>
                        <a:t>Öffnen</a:t>
                      </a:r>
                      <a:r>
                        <a:rPr lang="en-GB" b="0" dirty="0"/>
                        <a:t> </a:t>
                      </a:r>
                      <a:r>
                        <a:rPr lang="en-GB" b="0" dirty="0" err="1"/>
                        <a:t>entstehen</a:t>
                      </a:r>
                      <a:endParaRPr lang="en-GB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001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026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0FB12F-694E-799C-D2EB-2F6C70A50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893" y="-299410"/>
            <a:ext cx="10515600" cy="1325563"/>
          </a:xfrm>
        </p:spPr>
        <p:txBody>
          <a:bodyPr/>
          <a:lstStyle/>
          <a:p>
            <a:r>
              <a:rPr lang="en-GB" dirty="0" err="1"/>
              <a:t>Prinzipien</a:t>
            </a:r>
            <a:r>
              <a:rPr lang="en-GB" dirty="0"/>
              <a:t> und Tricks</a:t>
            </a:r>
          </a:p>
        </p:txBody>
      </p:sp>
      <p:pic>
        <p:nvPicPr>
          <p:cNvPr id="1026" name="Picture 2" descr="Ein römisches Denkmal aus Stein mit eingravierter Inschrift: 'Datenoperationen immer im DBMS erledigen'. Monumentale Säulen, antike Gravuren, lateinisch anmutende Schrift, patina auf dem Stein, imposanter Hintergrund wie Forum Romanum.">
            <a:extLst>
              <a:ext uri="{FF2B5EF4-FFF2-40B4-BE49-F238E27FC236}">
                <a16:creationId xmlns:a16="http://schemas.microsoft.com/office/drawing/2014/main" id="{BEE29BFC-0850-1866-2F4D-4F472E375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772" y="1336962"/>
            <a:ext cx="4596809" cy="4596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0944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68481-EFE3-EA18-2319-226B56948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1FCA06-AB5E-93B8-E41A-920FDBFBB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893" y="-299410"/>
            <a:ext cx="10515600" cy="1325563"/>
          </a:xfrm>
        </p:spPr>
        <p:txBody>
          <a:bodyPr/>
          <a:lstStyle/>
          <a:p>
            <a:r>
              <a:rPr lang="en-GB" dirty="0" err="1"/>
              <a:t>Prinzipien</a:t>
            </a:r>
            <a:r>
              <a:rPr lang="en-GB" dirty="0"/>
              <a:t> und Tricks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C8F622D5-C0ED-53C6-EBA2-8CF28561A3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212404"/>
              </p:ext>
            </p:extLst>
          </p:nvPr>
        </p:nvGraphicFramePr>
        <p:xfrm>
          <a:off x="956930" y="1129019"/>
          <a:ext cx="10579395" cy="546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2717">
                  <a:extLst>
                    <a:ext uri="{9D8B030D-6E8A-4147-A177-3AD203B41FA5}">
                      <a16:colId xmlns:a16="http://schemas.microsoft.com/office/drawing/2014/main" val="4290681101"/>
                    </a:ext>
                  </a:extLst>
                </a:gridCol>
                <a:gridCol w="2163725">
                  <a:extLst>
                    <a:ext uri="{9D8B030D-6E8A-4147-A177-3AD203B41FA5}">
                      <a16:colId xmlns:a16="http://schemas.microsoft.com/office/drawing/2014/main" val="406409414"/>
                    </a:ext>
                  </a:extLst>
                </a:gridCol>
                <a:gridCol w="6352953">
                  <a:extLst>
                    <a:ext uri="{9D8B030D-6E8A-4147-A177-3AD203B41FA5}">
                      <a16:colId xmlns:a16="http://schemas.microsoft.com/office/drawing/2014/main" val="29662171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Prinzip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Ansatz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885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744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Auslesen</a:t>
                      </a:r>
                      <a:r>
                        <a:rPr lang="en-GB" dirty="0"/>
                        <a:t> von </a:t>
                      </a:r>
                      <a:r>
                        <a:rPr lang="en-GB" dirty="0" err="1"/>
                        <a:t>Daten</a:t>
                      </a:r>
                      <a:r>
                        <a:rPr lang="en-GB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Mit Reflection und Mapping</a:t>
                      </a:r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r>
                        <a:rPr lang="en-GB" dirty="0" err="1"/>
                        <a:t>Optimierte</a:t>
                      </a:r>
                      <a:r>
                        <a:rPr lang="en-GB" dirty="0"/>
                        <a:t> Definition, </a:t>
                      </a:r>
                      <a:r>
                        <a:rPr lang="en-GB" dirty="0" err="1"/>
                        <a:t>wenn</a:t>
                      </a:r>
                      <a:r>
                        <a:rPr lang="en-GB" dirty="0"/>
                        <a:t> immer </a:t>
                      </a:r>
                      <a:r>
                        <a:rPr lang="en-GB" dirty="0" err="1"/>
                        <a:t>möglich</a:t>
                      </a:r>
                      <a:r>
                        <a:rPr lang="en-GB" dirty="0"/>
                        <a:t> so </a:t>
                      </a:r>
                      <a:r>
                        <a:rPr lang="en-GB" dirty="0" err="1"/>
                        <a:t>angehen</a:t>
                      </a:r>
                      <a:r>
                        <a:rPr lang="en-GB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with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engine.connect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conn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users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limit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(10)  # nur 10 Zeilen</a:t>
                      </a:r>
                    </a:p>
                    <a:p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result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conn.execute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row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in 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result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row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._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mapping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["Inhalt"])</a:t>
                      </a:r>
                    </a:p>
                    <a:p>
                      <a:endParaRPr lang="en-GB" sz="1600" dirty="0"/>
                    </a:p>
                    <a:p>
                      <a:r>
                        <a:rPr lang="en-GB" sz="1600" b="1" dirty="0"/>
                        <a:t>Hier </a:t>
                      </a:r>
                      <a:r>
                        <a:rPr lang="en-GB" sz="1600" b="1" dirty="0" err="1"/>
                        <a:t>wird</a:t>
                      </a:r>
                      <a:r>
                        <a:rPr lang="en-GB" sz="1600" b="1" dirty="0"/>
                        <a:t> die </a:t>
                      </a:r>
                      <a:r>
                        <a:rPr lang="en-GB" sz="1600" b="1" dirty="0" err="1"/>
                        <a:t>Struktur</a:t>
                      </a:r>
                      <a:r>
                        <a:rPr lang="en-GB" sz="1600" b="1" dirty="0"/>
                        <a:t> der </a:t>
                      </a:r>
                      <a:r>
                        <a:rPr lang="en-GB" sz="1600" b="1" dirty="0" err="1"/>
                        <a:t>Datenbank</a:t>
                      </a:r>
                      <a:r>
                        <a:rPr lang="en-GB" sz="1600" b="1" dirty="0"/>
                        <a:t>/</a:t>
                      </a:r>
                      <a:r>
                        <a:rPr lang="en-GB" sz="1600" b="1" dirty="0" err="1"/>
                        <a:t>Tabelle</a:t>
                      </a:r>
                      <a:r>
                        <a:rPr lang="en-GB" sz="1600" b="1" dirty="0"/>
                        <a:t> </a:t>
                      </a:r>
                      <a:r>
                        <a:rPr lang="en-GB" sz="1600" b="1" dirty="0" err="1"/>
                        <a:t>mittels</a:t>
                      </a:r>
                      <a:r>
                        <a:rPr lang="en-GB" sz="1600" b="1" dirty="0"/>
                        <a:t> Reflection </a:t>
                      </a:r>
                      <a:r>
                        <a:rPr lang="en-GB" sz="1600" b="1" dirty="0" err="1"/>
                        <a:t>extrahiert</a:t>
                      </a:r>
                      <a:r>
                        <a:rPr lang="en-GB" sz="1600" b="1" dirty="0"/>
                        <a:t>, dies </a:t>
                      </a:r>
                      <a:r>
                        <a:rPr lang="en-GB" sz="1600" b="1" dirty="0" err="1"/>
                        <a:t>ist</a:t>
                      </a:r>
                      <a:r>
                        <a:rPr lang="en-GB" sz="1600" b="1" dirty="0"/>
                        <a:t> </a:t>
                      </a:r>
                      <a:r>
                        <a:rPr lang="en-GB" sz="1600" b="1" dirty="0" err="1"/>
                        <a:t>zwar</a:t>
                      </a:r>
                      <a:r>
                        <a:rPr lang="en-GB" sz="1600" b="1" dirty="0"/>
                        <a:t> </a:t>
                      </a:r>
                      <a:r>
                        <a:rPr lang="en-GB" sz="1600" b="1" dirty="0" err="1"/>
                        <a:t>praktisch</a:t>
                      </a:r>
                      <a:r>
                        <a:rPr lang="en-GB" sz="1600" b="1" dirty="0"/>
                        <a:t>, </a:t>
                      </a:r>
                      <a:r>
                        <a:rPr lang="en-GB" sz="1600" b="1" dirty="0" err="1"/>
                        <a:t>aber</a:t>
                      </a:r>
                      <a:r>
                        <a:rPr lang="en-GB" sz="1600" b="1" dirty="0"/>
                        <a:t> </a:t>
                      </a:r>
                      <a:r>
                        <a:rPr lang="en-GB" sz="1600" b="1" dirty="0" err="1"/>
                        <a:t>langsam</a:t>
                      </a:r>
                      <a:r>
                        <a:rPr lang="en-GB" sz="1600" b="1" dirty="0"/>
                        <a:t>.</a:t>
                      </a:r>
                    </a:p>
                    <a:p>
                      <a:endParaRPr lang="en-GB" sz="1600" dirty="0"/>
                    </a:p>
                    <a:p>
                      <a:r>
                        <a:rPr lang="de-DE" sz="16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Daten abfragen viel schneller</a:t>
                      </a:r>
                    </a:p>
                    <a:p>
                      <a:endParaRPr lang="de-DE" sz="1600" b="1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metadata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MetaData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users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= Table("E_1", 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metadata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autoload_with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engine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endParaRPr lang="de-CH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with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engine.connect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conn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users.c.Inhalt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limit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(10)  # Nur relevante Spalte</a:t>
                      </a:r>
                    </a:p>
                    <a:p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result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conn.execute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row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in 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result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de-CH" sz="16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de-CH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de-CH" sz="16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row.Inhalt</a:t>
                      </a:r>
                      <a:r>
                        <a:rPr lang="de-CH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 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# Direktzugriff statt _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mapping</a:t>
                      </a:r>
                      <a:endParaRPr lang="de-CH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587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1985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C795D-7A8D-1F50-69B8-1196B9FC3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EDA8D8-4C89-4DC8-573E-02F737DA7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893" y="-299410"/>
            <a:ext cx="10515600" cy="1325563"/>
          </a:xfrm>
        </p:spPr>
        <p:txBody>
          <a:bodyPr/>
          <a:lstStyle/>
          <a:p>
            <a:r>
              <a:rPr lang="en-GB" dirty="0" err="1"/>
              <a:t>Prinzipien</a:t>
            </a:r>
            <a:r>
              <a:rPr lang="en-GB" dirty="0"/>
              <a:t> und Tricks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7A8BE251-B6B0-B194-8D70-50F5AB0DF925}"/>
              </a:ext>
            </a:extLst>
          </p:cNvPr>
          <p:cNvGraphicFramePr>
            <a:graphicFrameLocks noGrp="1"/>
          </p:cNvGraphicFramePr>
          <p:nvPr/>
        </p:nvGraphicFramePr>
        <p:xfrm>
          <a:off x="956930" y="1129019"/>
          <a:ext cx="10579395" cy="449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2717">
                  <a:extLst>
                    <a:ext uri="{9D8B030D-6E8A-4147-A177-3AD203B41FA5}">
                      <a16:colId xmlns:a16="http://schemas.microsoft.com/office/drawing/2014/main" val="4290681101"/>
                    </a:ext>
                  </a:extLst>
                </a:gridCol>
                <a:gridCol w="2163725">
                  <a:extLst>
                    <a:ext uri="{9D8B030D-6E8A-4147-A177-3AD203B41FA5}">
                      <a16:colId xmlns:a16="http://schemas.microsoft.com/office/drawing/2014/main" val="406409414"/>
                    </a:ext>
                  </a:extLst>
                </a:gridCol>
                <a:gridCol w="6352953">
                  <a:extLst>
                    <a:ext uri="{9D8B030D-6E8A-4147-A177-3AD203B41FA5}">
                      <a16:colId xmlns:a16="http://schemas.microsoft.com/office/drawing/2014/main" val="29662171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Prinzip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Ansatz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885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744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Lesen</a:t>
                      </a:r>
                      <a:r>
                        <a:rPr lang="en-GB" dirty="0"/>
                        <a:t> von </a:t>
                      </a:r>
                      <a:r>
                        <a:rPr lang="en-GB" dirty="0" err="1"/>
                        <a:t>Daten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aus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mehreren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Tabellen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Immer </a:t>
                      </a:r>
                      <a:r>
                        <a:rPr lang="en-GB" dirty="0" err="1"/>
                        <a:t>mittels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Zugriff</a:t>
                      </a:r>
                      <a:r>
                        <a:rPr lang="en-GB" dirty="0"/>
                        <a:t> auf </a:t>
                      </a:r>
                      <a:r>
                        <a:rPr lang="en-GB" dirty="0" err="1"/>
                        <a:t>eine</a:t>
                      </a:r>
                      <a:r>
                        <a:rPr lang="en-GB" dirty="0"/>
                        <a:t> View </a:t>
                      </a:r>
                      <a:r>
                        <a:rPr lang="en-GB" dirty="0" err="1"/>
                        <a:t>realsieren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 </a:t>
                      </a:r>
                      <a:r>
                        <a:rPr lang="en-GB" sz="1600" dirty="0" err="1"/>
                        <a:t>Beispiel</a:t>
                      </a:r>
                      <a:r>
                        <a:rPr lang="en-GB" sz="1600" dirty="0"/>
                        <a:t>: </a:t>
                      </a:r>
                      <a:r>
                        <a:rPr lang="en-GB" sz="1600" dirty="0" err="1"/>
                        <a:t>Zugriff</a:t>
                      </a:r>
                      <a:r>
                        <a:rPr lang="en-GB" sz="1600" dirty="0"/>
                        <a:t> auf </a:t>
                      </a:r>
                      <a:r>
                        <a:rPr lang="en-GB" sz="1600" dirty="0" err="1"/>
                        <a:t>eine</a:t>
                      </a:r>
                      <a:r>
                        <a:rPr lang="en-GB" sz="1600" dirty="0"/>
                        <a:t> View</a:t>
                      </a:r>
                    </a:p>
                    <a:p>
                      <a:r>
                        <a:rPr lang="en-GB" sz="1600" dirty="0"/>
                        <a:t>with </a:t>
                      </a:r>
                      <a:r>
                        <a:rPr lang="en-GB" sz="1600" dirty="0" err="1"/>
                        <a:t>engine.connect</a:t>
                      </a:r>
                      <a:r>
                        <a:rPr lang="en-GB" sz="1600" dirty="0"/>
                        <a:t>() as conn:</a:t>
                      </a:r>
                    </a:p>
                    <a:p>
                      <a:r>
                        <a:rPr lang="en-GB" sz="1600" dirty="0"/>
                        <a:t>    result = </a:t>
                      </a:r>
                      <a:r>
                        <a:rPr lang="en-GB" sz="1600" dirty="0" err="1"/>
                        <a:t>conn.execute</a:t>
                      </a:r>
                      <a:r>
                        <a:rPr lang="en-GB" sz="1600" dirty="0"/>
                        <a:t>(text("SELECT TOP 10 * FROM View_1"))</a:t>
                      </a:r>
                    </a:p>
                    <a:p>
                      <a:r>
                        <a:rPr lang="en-GB" sz="1600" dirty="0"/>
                        <a:t>    for row in result:</a:t>
                      </a:r>
                    </a:p>
                    <a:p>
                      <a:r>
                        <a:rPr lang="en-GB" sz="1600" dirty="0"/>
                        <a:t>        print(row)</a:t>
                      </a:r>
                    </a:p>
                    <a:p>
                      <a:endParaRPr lang="en-GB" sz="1600" dirty="0"/>
                    </a:p>
                    <a:p>
                      <a:endParaRPr lang="en-GB" sz="1600" dirty="0"/>
                    </a:p>
                    <a:p>
                      <a:r>
                        <a:rPr lang="en-GB" sz="1600" dirty="0"/>
                        <a:t>View</a:t>
                      </a:r>
                    </a:p>
                    <a:p>
                      <a:endParaRPr lang="en-GB" sz="1600" dirty="0"/>
                    </a:p>
                    <a:p>
                      <a:endParaRPr lang="en-GB" sz="1600" dirty="0"/>
                    </a:p>
                    <a:p>
                      <a:endParaRPr lang="en-GB" sz="1600" dirty="0"/>
                    </a:p>
                    <a:p>
                      <a:endParaRPr lang="en-GB" sz="1600" dirty="0"/>
                    </a:p>
                    <a:p>
                      <a:endParaRPr lang="en-GB" sz="1600" dirty="0"/>
                    </a:p>
                    <a:p>
                      <a:endParaRPr lang="en-GB" sz="1600" dirty="0"/>
                    </a:p>
                    <a:p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587931"/>
                  </a:ext>
                </a:extLst>
              </a:tr>
            </a:tbl>
          </a:graphicData>
        </a:graphic>
      </p:graphicFrame>
      <p:pic>
        <p:nvPicPr>
          <p:cNvPr id="5" name="Grafik 4" descr="Ein Bild, das Text, Schrift, Screenshot, Zahl enthält.&#10;&#10;KI-generierte Inhalte können fehlerhaft sein.">
            <a:extLst>
              <a:ext uri="{FF2B5EF4-FFF2-40B4-BE49-F238E27FC236}">
                <a16:creationId xmlns:a16="http://schemas.microsoft.com/office/drawing/2014/main" id="{359D7E4B-05CE-FDCD-7468-778D61A12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627" y="3815644"/>
            <a:ext cx="3590951" cy="143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119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990D0-2886-477F-A335-7574182FE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8B785C-31F2-D3C4-709E-5D2EF0E2D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893" y="-299410"/>
            <a:ext cx="10515600" cy="1325563"/>
          </a:xfrm>
        </p:spPr>
        <p:txBody>
          <a:bodyPr/>
          <a:lstStyle/>
          <a:p>
            <a:r>
              <a:rPr lang="en-GB" dirty="0" err="1"/>
              <a:t>Prinzipien</a:t>
            </a:r>
            <a:r>
              <a:rPr lang="en-GB" dirty="0"/>
              <a:t> und Tricks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D1849B12-A391-10B5-EBD9-4BD2CDA7436D}"/>
              </a:ext>
            </a:extLst>
          </p:cNvPr>
          <p:cNvGraphicFramePr>
            <a:graphicFrameLocks noGrp="1"/>
          </p:cNvGraphicFramePr>
          <p:nvPr/>
        </p:nvGraphicFramePr>
        <p:xfrm>
          <a:off x="933893" y="1129019"/>
          <a:ext cx="10602432" cy="446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6370">
                  <a:extLst>
                    <a:ext uri="{9D8B030D-6E8A-4147-A177-3AD203B41FA5}">
                      <a16:colId xmlns:a16="http://schemas.microsoft.com/office/drawing/2014/main" val="4290681101"/>
                    </a:ext>
                  </a:extLst>
                </a:gridCol>
                <a:gridCol w="2721934">
                  <a:extLst>
                    <a:ext uri="{9D8B030D-6E8A-4147-A177-3AD203B41FA5}">
                      <a16:colId xmlns:a16="http://schemas.microsoft.com/office/drawing/2014/main" val="406409414"/>
                    </a:ext>
                  </a:extLst>
                </a:gridCol>
                <a:gridCol w="5294128">
                  <a:extLst>
                    <a:ext uri="{9D8B030D-6E8A-4147-A177-3AD203B41FA5}">
                      <a16:colId xmlns:a16="http://schemas.microsoft.com/office/drawing/2014/main" val="29662171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Prinzip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Ansatz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885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744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Schreiben</a:t>
                      </a:r>
                      <a:r>
                        <a:rPr lang="en-GB" dirty="0"/>
                        <a:t> von </a:t>
                      </a:r>
                      <a:r>
                        <a:rPr lang="en-GB" dirty="0" err="1"/>
                        <a:t>Daten</a:t>
                      </a:r>
                      <a:r>
                        <a:rPr lang="en-GB" dirty="0"/>
                        <a:t> in </a:t>
                      </a:r>
                      <a:r>
                        <a:rPr lang="en-GB" dirty="0" err="1"/>
                        <a:t>Tabellen</a:t>
                      </a:r>
                      <a:r>
                        <a:rPr lang="en-GB" dirty="0"/>
                        <a:t>, </a:t>
                      </a:r>
                      <a:r>
                        <a:rPr lang="en-GB" dirty="0" err="1"/>
                        <a:t>insbesondere</a:t>
                      </a:r>
                      <a:r>
                        <a:rPr lang="en-GB" dirty="0"/>
                        <a:t> in </a:t>
                      </a:r>
                      <a:r>
                        <a:rPr lang="en-GB" dirty="0" err="1"/>
                        <a:t>mehrere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Tabellen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gelichzeitig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Zugriff</a:t>
                      </a:r>
                      <a:r>
                        <a:rPr lang="en-GB" dirty="0"/>
                        <a:t> auf </a:t>
                      </a:r>
                      <a:r>
                        <a:rPr lang="en-GB" dirty="0" err="1"/>
                        <a:t>eine</a:t>
                      </a:r>
                      <a:r>
                        <a:rPr lang="en-GB" dirty="0"/>
                        <a:t> stored procedure, </a:t>
                      </a:r>
                      <a:r>
                        <a:rPr lang="en-GB" dirty="0" err="1"/>
                        <a:t>welche</a:t>
                      </a:r>
                      <a:r>
                        <a:rPr lang="en-GB" dirty="0"/>
                        <a:t> der </a:t>
                      </a:r>
                      <a:r>
                        <a:rPr lang="en-GB" dirty="0" err="1"/>
                        <a:t>Datenbank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zugeordnet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ist</a:t>
                      </a:r>
                      <a:r>
                        <a:rPr lang="en-GB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from </a:t>
                      </a:r>
                      <a:r>
                        <a:rPr lang="en-GB" sz="1400" dirty="0" err="1"/>
                        <a:t>sqlalchemy</a:t>
                      </a:r>
                      <a:r>
                        <a:rPr lang="en-GB" sz="1400" dirty="0"/>
                        <a:t> import </a:t>
                      </a:r>
                      <a:r>
                        <a:rPr lang="en-GB" sz="1400" dirty="0" err="1"/>
                        <a:t>create_engine</a:t>
                      </a:r>
                      <a:r>
                        <a:rPr lang="en-GB" sz="1400" dirty="0"/>
                        <a:t>, text</a:t>
                      </a:r>
                    </a:p>
                    <a:p>
                      <a:endParaRPr lang="en-GB" sz="1400" dirty="0"/>
                    </a:p>
                    <a:p>
                      <a:r>
                        <a:rPr lang="en-GB" sz="1400" dirty="0"/>
                        <a:t>engine = </a:t>
                      </a:r>
                      <a:r>
                        <a:rPr lang="en-GB" sz="1400" dirty="0" err="1"/>
                        <a:t>create_engine</a:t>
                      </a:r>
                      <a:r>
                        <a:rPr lang="en-GB" sz="1400" dirty="0"/>
                        <a:t>(</a:t>
                      </a:r>
                    </a:p>
                    <a:p>
                      <a:r>
                        <a:rPr lang="en-GB" sz="1400" dirty="0"/>
                        <a:t>    "</a:t>
                      </a:r>
                      <a:r>
                        <a:rPr lang="en-GB" sz="1400" dirty="0" err="1"/>
                        <a:t>mssql+pyodbc</a:t>
                      </a:r>
                      <a:r>
                        <a:rPr lang="en-GB" sz="1400" dirty="0"/>
                        <a:t>:///?</a:t>
                      </a:r>
                      <a:r>
                        <a:rPr lang="en-GB" sz="1400" dirty="0" err="1"/>
                        <a:t>odbc_connect</a:t>
                      </a:r>
                      <a:r>
                        <a:rPr lang="en-GB" sz="1400" dirty="0"/>
                        <a:t>="</a:t>
                      </a:r>
                    </a:p>
                    <a:p>
                      <a:r>
                        <a:rPr lang="en-GB" sz="1400" dirty="0"/>
                        <a:t>    "Driver={ODBC Driver 17 for SQL Server};"</a:t>
                      </a:r>
                    </a:p>
                    <a:p>
                      <a:r>
                        <a:rPr lang="en-GB" sz="1400" dirty="0"/>
                        <a:t>    "Server=TABLET-T5SFU11Q\\SQLEXPRESS;"</a:t>
                      </a:r>
                    </a:p>
                    <a:p>
                      <a:r>
                        <a:rPr lang="en-GB" sz="1400" dirty="0"/>
                        <a:t>    "Database=Test;"</a:t>
                      </a:r>
                    </a:p>
                    <a:p>
                      <a:r>
                        <a:rPr lang="en-GB" sz="1400" dirty="0"/>
                        <a:t>    "</a:t>
                      </a:r>
                      <a:r>
                        <a:rPr lang="en-GB" sz="1400" dirty="0" err="1"/>
                        <a:t>Trusted_Connection</a:t>
                      </a:r>
                      <a:r>
                        <a:rPr lang="en-GB" sz="1400" dirty="0"/>
                        <a:t>=yes;"</a:t>
                      </a:r>
                    </a:p>
                    <a:p>
                      <a:r>
                        <a:rPr lang="en-GB" sz="1400" dirty="0"/>
                        <a:t>)</a:t>
                      </a:r>
                    </a:p>
                    <a:p>
                      <a:endParaRPr lang="en-GB" sz="1400" dirty="0"/>
                    </a:p>
                    <a:p>
                      <a:r>
                        <a:rPr lang="en-GB" sz="1400" dirty="0"/>
                        <a:t>with </a:t>
                      </a:r>
                      <a:r>
                        <a:rPr lang="en-GB" sz="1400" dirty="0" err="1"/>
                        <a:t>engine.connect</a:t>
                      </a:r>
                      <a:r>
                        <a:rPr lang="en-GB" sz="1400" dirty="0"/>
                        <a:t>() as conn:</a:t>
                      </a:r>
                    </a:p>
                    <a:p>
                      <a:r>
                        <a:rPr lang="en-GB" sz="1400" dirty="0"/>
                        <a:t>    trans = </a:t>
                      </a:r>
                      <a:r>
                        <a:rPr lang="en-GB" sz="1400" dirty="0" err="1"/>
                        <a:t>conn.begin</a:t>
                      </a:r>
                      <a:r>
                        <a:rPr lang="en-GB" sz="1400" dirty="0"/>
                        <a:t>()</a:t>
                      </a:r>
                    </a:p>
                    <a:p>
                      <a:r>
                        <a:rPr lang="en-GB" sz="1400" dirty="0"/>
                        <a:t>    </a:t>
                      </a:r>
                      <a:r>
                        <a:rPr lang="en-GB" sz="1400" dirty="0" err="1"/>
                        <a:t>conn.execute</a:t>
                      </a:r>
                      <a:r>
                        <a:rPr lang="en-GB" sz="1400" dirty="0"/>
                        <a:t>(</a:t>
                      </a:r>
                    </a:p>
                    <a:p>
                      <a:r>
                        <a:rPr lang="en-GB" sz="1400" dirty="0"/>
                        <a:t>        text("EXEC Eintragen_E1 @inhalt = :</a:t>
                      </a:r>
                      <a:r>
                        <a:rPr lang="en-GB" sz="1400" dirty="0" err="1"/>
                        <a:t>inhalt</a:t>
                      </a:r>
                      <a:r>
                        <a:rPr lang="en-GB" sz="1400" dirty="0"/>
                        <a:t>"),</a:t>
                      </a:r>
                    </a:p>
                    <a:p>
                      <a:r>
                        <a:rPr lang="en-GB" sz="1400" dirty="0"/>
                        <a:t>        {"</a:t>
                      </a:r>
                      <a:r>
                        <a:rPr lang="en-GB" sz="1400" dirty="0" err="1"/>
                        <a:t>inhalt</a:t>
                      </a:r>
                      <a:r>
                        <a:rPr lang="en-GB" sz="1400" dirty="0"/>
                        <a:t>": "7"}</a:t>
                      </a:r>
                    </a:p>
                    <a:p>
                      <a:r>
                        <a:rPr lang="en-GB" sz="1400" dirty="0"/>
                        <a:t>    )</a:t>
                      </a:r>
                    </a:p>
                    <a:p>
                      <a:r>
                        <a:rPr lang="en-GB" sz="1400" dirty="0"/>
                        <a:t>    </a:t>
                      </a:r>
                      <a:r>
                        <a:rPr lang="en-GB" sz="1400" dirty="0" err="1"/>
                        <a:t>trans.commit</a:t>
                      </a:r>
                      <a:r>
                        <a:rPr lang="en-GB" sz="1400" dirty="0"/>
                        <a:t>()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587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249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E356E7-D0A7-3ABF-9CD8-9F9591275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Backup- </a:t>
            </a:r>
            <a:r>
              <a:rPr lang="en-GB" dirty="0" err="1"/>
              <a:t>Skripts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2782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68D81027-2271-A2CC-311E-BA90ED220784}"/>
              </a:ext>
            </a:extLst>
          </p:cNvPr>
          <p:cNvSpPr txBox="1"/>
          <p:nvPr/>
        </p:nvSpPr>
        <p:spPr>
          <a:xfrm>
            <a:off x="792125" y="1147027"/>
            <a:ext cx="11440632" cy="5001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from </a:t>
            </a:r>
            <a:r>
              <a:rPr lang="en-GB" sz="1100" dirty="0" err="1"/>
              <a:t>sqlalchemy</a:t>
            </a:r>
            <a:r>
              <a:rPr lang="en-GB" sz="1100" dirty="0"/>
              <a:t> import </a:t>
            </a:r>
            <a:r>
              <a:rPr lang="en-GB" sz="1100" dirty="0" err="1"/>
              <a:t>create_engine</a:t>
            </a:r>
            <a:r>
              <a:rPr lang="en-GB" sz="1100" dirty="0"/>
              <a:t>, </a:t>
            </a:r>
            <a:r>
              <a:rPr lang="en-GB" sz="1100" dirty="0" err="1"/>
              <a:t>MetaData</a:t>
            </a:r>
            <a:r>
              <a:rPr lang="en-GB" sz="1100" dirty="0"/>
              <a:t>, Table</a:t>
            </a:r>
          </a:p>
          <a:p>
            <a:r>
              <a:rPr lang="en-GB" sz="1100" dirty="0"/>
              <a:t>from </a:t>
            </a:r>
            <a:r>
              <a:rPr lang="en-GB" sz="1100" dirty="0" err="1"/>
              <a:t>sqlalchemy.exc</a:t>
            </a:r>
            <a:r>
              <a:rPr lang="en-GB" sz="1100" dirty="0"/>
              <a:t> import </a:t>
            </a:r>
            <a:r>
              <a:rPr lang="en-GB" sz="1100" dirty="0" err="1"/>
              <a:t>NoSuchTableError</a:t>
            </a:r>
            <a:endParaRPr lang="en-GB" sz="1100" dirty="0"/>
          </a:p>
          <a:p>
            <a:endParaRPr lang="en-GB" sz="1100" dirty="0"/>
          </a:p>
          <a:p>
            <a:r>
              <a:rPr lang="en-GB" sz="1100" dirty="0"/>
              <a:t>engine = </a:t>
            </a:r>
            <a:r>
              <a:rPr lang="en-GB" sz="1100" dirty="0" err="1"/>
              <a:t>create_engine</a:t>
            </a:r>
            <a:r>
              <a:rPr lang="en-GB" sz="1100" dirty="0"/>
              <a:t>(</a:t>
            </a:r>
          </a:p>
          <a:p>
            <a:r>
              <a:rPr lang="en-GB" sz="1100" dirty="0"/>
              <a:t>    "</a:t>
            </a:r>
            <a:r>
              <a:rPr lang="en-GB" sz="1100" dirty="0" err="1"/>
              <a:t>mssql+pyodbc</a:t>
            </a:r>
            <a:r>
              <a:rPr lang="en-GB" sz="1100" dirty="0"/>
              <a:t>:///?</a:t>
            </a:r>
            <a:r>
              <a:rPr lang="en-GB" sz="1100" dirty="0" err="1"/>
              <a:t>odbc_connect</a:t>
            </a:r>
            <a:r>
              <a:rPr lang="en-GB" sz="1100" dirty="0"/>
              <a:t>="</a:t>
            </a:r>
          </a:p>
          <a:p>
            <a:r>
              <a:rPr lang="en-GB" sz="1100" dirty="0"/>
              <a:t>    "Driver={ODBC Driver 17 for SQL Server};"</a:t>
            </a:r>
          </a:p>
          <a:p>
            <a:r>
              <a:rPr lang="en-GB" sz="1100" dirty="0"/>
              <a:t>    "Server=TABLET-T5SFU11Q\\SQLEXPRESS;"</a:t>
            </a:r>
          </a:p>
          <a:p>
            <a:r>
              <a:rPr lang="en-GB" sz="1100" dirty="0"/>
              <a:t>    "Database=test;"</a:t>
            </a:r>
          </a:p>
          <a:p>
            <a:r>
              <a:rPr lang="en-GB" sz="1100" dirty="0"/>
              <a:t>    "</a:t>
            </a:r>
            <a:r>
              <a:rPr lang="en-GB" sz="1100" dirty="0" err="1"/>
              <a:t>Trusted_Connection</a:t>
            </a:r>
            <a:r>
              <a:rPr lang="en-GB" sz="1100" dirty="0"/>
              <a:t>=yes;"</a:t>
            </a:r>
          </a:p>
          <a:p>
            <a:r>
              <a:rPr lang="en-GB" sz="1100" dirty="0"/>
              <a:t>)</a:t>
            </a:r>
          </a:p>
          <a:p>
            <a:endParaRPr lang="en-GB" sz="1100" dirty="0"/>
          </a:p>
          <a:p>
            <a:r>
              <a:rPr lang="en-GB" sz="1100" dirty="0"/>
              <a:t>metadata = </a:t>
            </a:r>
            <a:r>
              <a:rPr lang="en-GB" sz="1100" dirty="0" err="1"/>
              <a:t>MetaData</a:t>
            </a:r>
            <a:r>
              <a:rPr lang="en-GB" sz="1100" dirty="0"/>
              <a:t>()</a:t>
            </a:r>
          </a:p>
          <a:p>
            <a:endParaRPr lang="en-GB" sz="1100" dirty="0"/>
          </a:p>
          <a:p>
            <a:r>
              <a:rPr lang="en-GB" sz="1100" dirty="0"/>
              <a:t>try:</a:t>
            </a:r>
          </a:p>
          <a:p>
            <a:r>
              <a:rPr lang="en-GB" sz="1100" dirty="0"/>
              <a:t>    users = Table("E_1", metadata, </a:t>
            </a:r>
            <a:r>
              <a:rPr lang="en-GB" sz="1100" dirty="0" err="1"/>
              <a:t>autoload_with</a:t>
            </a:r>
            <a:r>
              <a:rPr lang="en-GB" sz="1100" dirty="0"/>
              <a:t>=engine)</a:t>
            </a:r>
          </a:p>
          <a:p>
            <a:r>
              <a:rPr lang="en-GB" sz="1100" dirty="0"/>
              <a:t>    print("</a:t>
            </a:r>
            <a:r>
              <a:rPr lang="en-GB" sz="1100" dirty="0" err="1"/>
              <a:t>Tabelle</a:t>
            </a:r>
            <a:r>
              <a:rPr lang="en-GB" sz="1100" dirty="0"/>
              <a:t> 'E_1' </a:t>
            </a:r>
            <a:r>
              <a:rPr lang="en-GB" sz="1100" dirty="0" err="1"/>
              <a:t>erfolgreich</a:t>
            </a:r>
            <a:r>
              <a:rPr lang="en-GB" sz="1100" dirty="0"/>
              <a:t> </a:t>
            </a:r>
            <a:r>
              <a:rPr lang="en-GB" sz="1100" dirty="0" err="1"/>
              <a:t>geladen</a:t>
            </a:r>
            <a:r>
              <a:rPr lang="en-GB" sz="1100" dirty="0"/>
              <a:t>.")</a:t>
            </a:r>
          </a:p>
          <a:p>
            <a:r>
              <a:rPr lang="en-GB" sz="1100" dirty="0"/>
              <a:t>    print("</a:t>
            </a:r>
            <a:r>
              <a:rPr lang="en-GB" sz="1100" dirty="0" err="1"/>
              <a:t>Spalten</a:t>
            </a:r>
            <a:r>
              <a:rPr lang="en-GB" sz="1100" dirty="0"/>
              <a:t>:", [col.name for col in </a:t>
            </a:r>
            <a:r>
              <a:rPr lang="en-GB" sz="1100" dirty="0" err="1"/>
              <a:t>users.columns</a:t>
            </a:r>
            <a:r>
              <a:rPr lang="en-GB" sz="1100" dirty="0"/>
              <a:t>])</a:t>
            </a:r>
          </a:p>
          <a:p>
            <a:endParaRPr lang="en-GB" sz="1100" dirty="0"/>
          </a:p>
          <a:p>
            <a:r>
              <a:rPr lang="en-GB" sz="1100" dirty="0"/>
              <a:t>    with </a:t>
            </a:r>
            <a:r>
              <a:rPr lang="en-GB" sz="1100" dirty="0" err="1"/>
              <a:t>engine.connect</a:t>
            </a:r>
            <a:r>
              <a:rPr lang="en-GB" sz="1100" dirty="0"/>
              <a:t>() as conn:</a:t>
            </a:r>
          </a:p>
          <a:p>
            <a:r>
              <a:rPr lang="en-GB" sz="1100" dirty="0"/>
              <a:t>        result = </a:t>
            </a:r>
            <a:r>
              <a:rPr lang="en-GB" sz="1100" dirty="0" err="1"/>
              <a:t>conn.execute</a:t>
            </a:r>
            <a:r>
              <a:rPr lang="en-GB" sz="1100" dirty="0"/>
              <a:t>(</a:t>
            </a:r>
            <a:r>
              <a:rPr lang="en-GB" sz="1100" dirty="0" err="1"/>
              <a:t>users.select</a:t>
            </a:r>
            <a:r>
              <a:rPr lang="en-GB" sz="1100" dirty="0"/>
              <a:t>())</a:t>
            </a:r>
          </a:p>
          <a:p>
            <a:r>
              <a:rPr lang="en-GB" sz="1100" dirty="0"/>
              <a:t>        rows = </a:t>
            </a:r>
            <a:r>
              <a:rPr lang="en-GB" sz="1100" dirty="0" err="1"/>
              <a:t>result.fetchall</a:t>
            </a:r>
            <a:r>
              <a:rPr lang="en-GB" sz="1100" dirty="0"/>
              <a:t>()</a:t>
            </a:r>
          </a:p>
          <a:p>
            <a:r>
              <a:rPr lang="en-GB" sz="1100" dirty="0"/>
              <a:t>        print(</a:t>
            </a:r>
            <a:r>
              <a:rPr lang="en-GB" sz="1100" dirty="0" err="1"/>
              <a:t>f"Anzahl</a:t>
            </a:r>
            <a:r>
              <a:rPr lang="en-GB" sz="1100" dirty="0"/>
              <a:t> </a:t>
            </a:r>
            <a:r>
              <a:rPr lang="en-GB" sz="1100" dirty="0" err="1"/>
              <a:t>Datensätze</a:t>
            </a:r>
            <a:r>
              <a:rPr lang="en-GB" sz="1100" dirty="0"/>
              <a:t>: {</a:t>
            </a:r>
            <a:r>
              <a:rPr lang="en-GB" sz="1100" dirty="0" err="1"/>
              <a:t>len</a:t>
            </a:r>
            <a:r>
              <a:rPr lang="en-GB" sz="1100" dirty="0"/>
              <a:t>(rows)}")</a:t>
            </a:r>
          </a:p>
          <a:p>
            <a:r>
              <a:rPr lang="en-GB" sz="1100" dirty="0"/>
              <a:t>        for row in rows:</a:t>
            </a:r>
          </a:p>
          <a:p>
            <a:r>
              <a:rPr lang="en-GB" sz="1100" dirty="0"/>
              <a:t>            print(row)</a:t>
            </a:r>
          </a:p>
          <a:p>
            <a:endParaRPr lang="en-GB" sz="1100" dirty="0"/>
          </a:p>
          <a:p>
            <a:r>
              <a:rPr lang="en-GB" sz="1100" dirty="0"/>
              <a:t>except </a:t>
            </a:r>
            <a:r>
              <a:rPr lang="en-GB" sz="1100" dirty="0" err="1"/>
              <a:t>NoSuchTableError</a:t>
            </a:r>
            <a:r>
              <a:rPr lang="en-GB" sz="1100" dirty="0"/>
              <a:t>:</a:t>
            </a:r>
          </a:p>
          <a:p>
            <a:r>
              <a:rPr lang="en-GB" sz="1100" dirty="0"/>
              <a:t>    print("</a:t>
            </a:r>
            <a:r>
              <a:rPr lang="en-GB" sz="1100" dirty="0" err="1"/>
              <a:t>Tabelle</a:t>
            </a:r>
            <a:r>
              <a:rPr lang="en-GB" sz="1100" dirty="0"/>
              <a:t> 'E_1' </a:t>
            </a:r>
            <a:r>
              <a:rPr lang="en-GB" sz="1100" dirty="0" err="1"/>
              <a:t>existiert</a:t>
            </a:r>
            <a:r>
              <a:rPr lang="en-GB" sz="1100" dirty="0"/>
              <a:t> nicht in der </a:t>
            </a:r>
            <a:r>
              <a:rPr lang="en-GB" sz="1100" dirty="0" err="1"/>
              <a:t>Datenbank</a:t>
            </a:r>
            <a:r>
              <a:rPr lang="en-GB" sz="1100" dirty="0"/>
              <a:t>.")</a:t>
            </a:r>
          </a:p>
          <a:p>
            <a:r>
              <a:rPr lang="en-GB" sz="1100" dirty="0"/>
              <a:t>except Exception as e:</a:t>
            </a:r>
          </a:p>
          <a:p>
            <a:r>
              <a:rPr lang="en-GB" sz="1100" dirty="0"/>
              <a:t>    print("Fehler </a:t>
            </a:r>
            <a:r>
              <a:rPr lang="en-GB" sz="1100" dirty="0" err="1"/>
              <a:t>beim</a:t>
            </a:r>
            <a:r>
              <a:rPr lang="en-GB" sz="1100" dirty="0"/>
              <a:t> Laden der </a:t>
            </a:r>
            <a:r>
              <a:rPr lang="en-GB" sz="1100" dirty="0" err="1"/>
              <a:t>Tabelle</a:t>
            </a:r>
            <a:r>
              <a:rPr lang="en-GB" sz="1100" dirty="0"/>
              <a:t> </a:t>
            </a:r>
            <a:r>
              <a:rPr lang="en-GB" sz="1100" dirty="0" err="1"/>
              <a:t>oder</a:t>
            </a:r>
            <a:r>
              <a:rPr lang="en-GB" sz="1100" dirty="0"/>
              <a:t> </a:t>
            </a:r>
            <a:r>
              <a:rPr lang="en-GB" sz="1100" dirty="0" err="1"/>
              <a:t>beim</a:t>
            </a:r>
            <a:r>
              <a:rPr lang="en-GB" sz="1100" dirty="0"/>
              <a:t> </a:t>
            </a:r>
            <a:r>
              <a:rPr lang="en-GB" sz="1100" dirty="0" err="1"/>
              <a:t>Ausführen</a:t>
            </a:r>
            <a:r>
              <a:rPr lang="en-GB" sz="1100" dirty="0"/>
              <a:t> der </a:t>
            </a:r>
            <a:r>
              <a:rPr lang="en-GB" sz="1100" dirty="0" err="1"/>
              <a:t>Abfrage</a:t>
            </a:r>
            <a:r>
              <a:rPr lang="en-GB" sz="1100" dirty="0"/>
              <a:t>:", e)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24A8D458-3A89-F110-B179-5375454CE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3205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Skript</a:t>
            </a:r>
            <a:r>
              <a:rPr lang="en-GB" dirty="0"/>
              <a:t> für </a:t>
            </a:r>
            <a:r>
              <a:rPr lang="en-GB" dirty="0" err="1"/>
              <a:t>Fehlersuche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04866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4D3EF214-3525-3EFB-4DEB-9BA7DFE127AF}"/>
              </a:ext>
            </a:extLst>
          </p:cNvPr>
          <p:cNvSpPr txBox="1"/>
          <p:nvPr/>
        </p:nvSpPr>
        <p:spPr>
          <a:xfrm>
            <a:off x="838200" y="857677"/>
            <a:ext cx="8754583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/>
              <a:t>import time</a:t>
            </a:r>
          </a:p>
          <a:p>
            <a:r>
              <a:rPr lang="en-GB" sz="1000" dirty="0"/>
              <a:t>from </a:t>
            </a:r>
            <a:r>
              <a:rPr lang="en-GB" sz="1000" dirty="0" err="1"/>
              <a:t>sqlalchemy</a:t>
            </a:r>
            <a:r>
              <a:rPr lang="en-GB" sz="1000" dirty="0"/>
              <a:t> import </a:t>
            </a:r>
            <a:r>
              <a:rPr lang="en-GB" sz="1000" dirty="0" err="1"/>
              <a:t>create_engine</a:t>
            </a:r>
            <a:r>
              <a:rPr lang="en-GB" sz="1000" dirty="0"/>
              <a:t>, </a:t>
            </a:r>
            <a:r>
              <a:rPr lang="en-GB" sz="1000" dirty="0" err="1"/>
              <a:t>MetaData</a:t>
            </a:r>
            <a:r>
              <a:rPr lang="en-GB" sz="1000" dirty="0"/>
              <a:t>, Table, select</a:t>
            </a:r>
          </a:p>
          <a:p>
            <a:endParaRPr lang="en-GB" sz="1000" dirty="0"/>
          </a:p>
          <a:p>
            <a:r>
              <a:rPr lang="en-GB" sz="1000" dirty="0"/>
              <a:t>engine = </a:t>
            </a:r>
            <a:r>
              <a:rPr lang="en-GB" sz="1000" dirty="0" err="1"/>
              <a:t>create_engine</a:t>
            </a:r>
            <a:r>
              <a:rPr lang="en-GB" sz="1000" dirty="0"/>
              <a:t>(</a:t>
            </a:r>
          </a:p>
          <a:p>
            <a:r>
              <a:rPr lang="en-GB" sz="1000" dirty="0"/>
              <a:t>    "</a:t>
            </a:r>
            <a:r>
              <a:rPr lang="en-GB" sz="1000" dirty="0" err="1"/>
              <a:t>mssql+pyodbc</a:t>
            </a:r>
            <a:r>
              <a:rPr lang="en-GB" sz="1000" dirty="0"/>
              <a:t>:///?</a:t>
            </a:r>
            <a:r>
              <a:rPr lang="en-GB" sz="1000" dirty="0" err="1"/>
              <a:t>odbc_connect</a:t>
            </a:r>
            <a:r>
              <a:rPr lang="en-GB" sz="1000" dirty="0"/>
              <a:t>="</a:t>
            </a:r>
          </a:p>
          <a:p>
            <a:r>
              <a:rPr lang="en-GB" sz="1000" dirty="0"/>
              <a:t>    "Driver={ODBC Driver 17 for SQL Server};"</a:t>
            </a:r>
          </a:p>
          <a:p>
            <a:r>
              <a:rPr lang="en-GB" sz="1000" dirty="0"/>
              <a:t>    "Server=TABLET-T5SFU11Q\\SQLEXPRESS;"</a:t>
            </a:r>
          </a:p>
          <a:p>
            <a:r>
              <a:rPr lang="en-GB" sz="1000" dirty="0"/>
              <a:t>    "Database=test;"</a:t>
            </a:r>
          </a:p>
          <a:p>
            <a:r>
              <a:rPr lang="en-GB" sz="1000" dirty="0"/>
              <a:t>    "</a:t>
            </a:r>
            <a:r>
              <a:rPr lang="en-GB" sz="1000" dirty="0" err="1"/>
              <a:t>Trusted_Connection</a:t>
            </a:r>
            <a:r>
              <a:rPr lang="en-GB" sz="1000" dirty="0"/>
              <a:t>=yes;"</a:t>
            </a:r>
          </a:p>
          <a:p>
            <a:r>
              <a:rPr lang="en-GB" sz="1000" dirty="0"/>
              <a:t>)</a:t>
            </a:r>
          </a:p>
          <a:p>
            <a:endParaRPr lang="en-GB" sz="1000" dirty="0"/>
          </a:p>
          <a:p>
            <a:r>
              <a:rPr lang="en-GB" sz="1000" dirty="0"/>
              <a:t># ⏱ </a:t>
            </a:r>
            <a:r>
              <a:rPr lang="en-GB" sz="1000" dirty="0" err="1"/>
              <a:t>Startzeit</a:t>
            </a:r>
            <a:endParaRPr lang="en-GB" sz="1000" dirty="0"/>
          </a:p>
          <a:p>
            <a:r>
              <a:rPr lang="en-GB" sz="1000" dirty="0"/>
              <a:t>t0 = </a:t>
            </a:r>
            <a:r>
              <a:rPr lang="en-GB" sz="1000" dirty="0" err="1"/>
              <a:t>time.perf_counter</a:t>
            </a:r>
            <a:r>
              <a:rPr lang="en-GB" sz="1000" dirty="0"/>
              <a:t>()</a:t>
            </a:r>
          </a:p>
          <a:p>
            <a:endParaRPr lang="en-GB" sz="1000" dirty="0"/>
          </a:p>
          <a:p>
            <a:r>
              <a:rPr lang="en-GB" sz="1000" dirty="0"/>
              <a:t># </a:t>
            </a:r>
            <a:r>
              <a:rPr lang="en-GB" sz="1000" dirty="0" err="1"/>
              <a:t>Verbindung</a:t>
            </a:r>
            <a:endParaRPr lang="en-GB" sz="1000" dirty="0"/>
          </a:p>
          <a:p>
            <a:r>
              <a:rPr lang="en-GB" sz="1000" dirty="0"/>
              <a:t>with </a:t>
            </a:r>
            <a:r>
              <a:rPr lang="en-GB" sz="1000" dirty="0" err="1"/>
              <a:t>engine.connect</a:t>
            </a:r>
            <a:r>
              <a:rPr lang="en-GB" sz="1000" dirty="0"/>
              <a:t>() as conn:</a:t>
            </a:r>
          </a:p>
          <a:p>
            <a:r>
              <a:rPr lang="en-GB" sz="1000" dirty="0"/>
              <a:t>    t1 = </a:t>
            </a:r>
            <a:r>
              <a:rPr lang="en-GB" sz="1000" dirty="0" err="1"/>
              <a:t>time.perf_counter</a:t>
            </a:r>
            <a:r>
              <a:rPr lang="en-GB" sz="1000" dirty="0"/>
              <a:t>()</a:t>
            </a:r>
          </a:p>
          <a:p>
            <a:r>
              <a:rPr lang="en-GB" sz="1000" dirty="0"/>
              <a:t>    print(</a:t>
            </a:r>
            <a:r>
              <a:rPr lang="en-GB" sz="1000" dirty="0" err="1"/>
              <a:t>f"Verbindung</a:t>
            </a:r>
            <a:r>
              <a:rPr lang="en-GB" sz="1000" dirty="0"/>
              <a:t> </a:t>
            </a:r>
            <a:r>
              <a:rPr lang="en-GB" sz="1000" dirty="0" err="1"/>
              <a:t>aufgebaut</a:t>
            </a:r>
            <a:r>
              <a:rPr lang="en-GB" sz="1000" dirty="0"/>
              <a:t> in {t1 - t0:.3f} </a:t>
            </a:r>
            <a:r>
              <a:rPr lang="en-GB" sz="1000" dirty="0" err="1"/>
              <a:t>Sekunden</a:t>
            </a:r>
            <a:r>
              <a:rPr lang="en-GB" sz="1000" dirty="0"/>
              <a:t>")</a:t>
            </a:r>
          </a:p>
          <a:p>
            <a:endParaRPr lang="en-GB" sz="1000" dirty="0"/>
          </a:p>
          <a:p>
            <a:r>
              <a:rPr lang="en-GB" sz="1000" dirty="0"/>
              <a:t>    # Reflection (</a:t>
            </a:r>
            <a:r>
              <a:rPr lang="en-GB" sz="1000" dirty="0" err="1"/>
              <a:t>Tabellenstruktur</a:t>
            </a:r>
            <a:r>
              <a:rPr lang="en-GB" sz="1000" dirty="0"/>
              <a:t> laden)</a:t>
            </a:r>
          </a:p>
          <a:p>
            <a:r>
              <a:rPr lang="en-GB" sz="1000" dirty="0"/>
              <a:t>    metadata = </a:t>
            </a:r>
            <a:r>
              <a:rPr lang="en-GB" sz="1000" dirty="0" err="1"/>
              <a:t>MetaData</a:t>
            </a:r>
            <a:r>
              <a:rPr lang="en-GB" sz="1000" dirty="0"/>
              <a:t>()</a:t>
            </a:r>
          </a:p>
          <a:p>
            <a:r>
              <a:rPr lang="en-GB" sz="1000" dirty="0"/>
              <a:t>    users = Table("E_1", metadata, </a:t>
            </a:r>
            <a:r>
              <a:rPr lang="en-GB" sz="1000" dirty="0" err="1"/>
              <a:t>autoload_with</a:t>
            </a:r>
            <a:r>
              <a:rPr lang="en-GB" sz="1000" dirty="0"/>
              <a:t>=engine)</a:t>
            </a:r>
          </a:p>
          <a:p>
            <a:r>
              <a:rPr lang="en-GB" sz="1000" dirty="0"/>
              <a:t>    t2 = </a:t>
            </a:r>
            <a:r>
              <a:rPr lang="en-GB" sz="1000" dirty="0" err="1"/>
              <a:t>time.perf_counter</a:t>
            </a:r>
            <a:r>
              <a:rPr lang="en-GB" sz="1000" dirty="0"/>
              <a:t>()</a:t>
            </a:r>
          </a:p>
          <a:p>
            <a:r>
              <a:rPr lang="en-GB" sz="1000" dirty="0"/>
              <a:t>    print(</a:t>
            </a:r>
            <a:r>
              <a:rPr lang="en-GB" sz="1000" dirty="0" err="1"/>
              <a:t>f"Reflection</a:t>
            </a:r>
            <a:r>
              <a:rPr lang="en-GB" sz="1000" dirty="0"/>
              <a:t> </a:t>
            </a:r>
            <a:r>
              <a:rPr lang="en-GB" sz="1000" dirty="0" err="1"/>
              <a:t>abgeschlossen</a:t>
            </a:r>
            <a:r>
              <a:rPr lang="en-GB" sz="1000" dirty="0"/>
              <a:t> in {t2 - t1:.3f} </a:t>
            </a:r>
            <a:r>
              <a:rPr lang="en-GB" sz="1000" dirty="0" err="1"/>
              <a:t>Sekunden</a:t>
            </a:r>
            <a:r>
              <a:rPr lang="en-GB" sz="1000" dirty="0"/>
              <a:t>")</a:t>
            </a:r>
          </a:p>
          <a:p>
            <a:endParaRPr lang="en-GB" sz="1000" dirty="0"/>
          </a:p>
          <a:p>
            <a:r>
              <a:rPr lang="en-GB" sz="1000" dirty="0"/>
              <a:t>    # Query</a:t>
            </a:r>
          </a:p>
          <a:p>
            <a:r>
              <a:rPr lang="en-GB" sz="1000" dirty="0"/>
              <a:t>    </a:t>
            </a:r>
            <a:r>
              <a:rPr lang="en-GB" sz="1000" dirty="0" err="1"/>
              <a:t>sel</a:t>
            </a:r>
            <a:r>
              <a:rPr lang="en-GB" sz="1000" dirty="0"/>
              <a:t> = select(users).limit(10)  # </a:t>
            </a:r>
            <a:r>
              <a:rPr lang="en-GB" sz="1000" dirty="0" err="1"/>
              <a:t>nur</a:t>
            </a:r>
            <a:r>
              <a:rPr lang="en-GB" sz="1000" dirty="0"/>
              <a:t> 10 </a:t>
            </a:r>
            <a:r>
              <a:rPr lang="en-GB" sz="1000" dirty="0" err="1"/>
              <a:t>Zeilen</a:t>
            </a:r>
            <a:r>
              <a:rPr lang="en-GB" sz="1000" dirty="0"/>
              <a:t> </a:t>
            </a:r>
            <a:r>
              <a:rPr lang="en-GB" sz="1000" dirty="0" err="1"/>
              <a:t>zum</a:t>
            </a:r>
            <a:r>
              <a:rPr lang="en-GB" sz="1000" dirty="0"/>
              <a:t> Test</a:t>
            </a:r>
          </a:p>
          <a:p>
            <a:r>
              <a:rPr lang="en-GB" sz="1000" dirty="0"/>
              <a:t>    result = </a:t>
            </a:r>
            <a:r>
              <a:rPr lang="en-GB" sz="1000" dirty="0" err="1"/>
              <a:t>conn.execute</a:t>
            </a:r>
            <a:r>
              <a:rPr lang="en-GB" sz="1000" dirty="0"/>
              <a:t>(</a:t>
            </a:r>
            <a:r>
              <a:rPr lang="en-GB" sz="1000" dirty="0" err="1"/>
              <a:t>sel</a:t>
            </a:r>
            <a:r>
              <a:rPr lang="en-GB" sz="1000" dirty="0"/>
              <a:t>)</a:t>
            </a:r>
          </a:p>
          <a:p>
            <a:r>
              <a:rPr lang="en-GB" sz="1000" dirty="0"/>
              <a:t>    t3 = </a:t>
            </a:r>
            <a:r>
              <a:rPr lang="en-GB" sz="1000" dirty="0" err="1"/>
              <a:t>time.perf_counter</a:t>
            </a:r>
            <a:r>
              <a:rPr lang="en-GB" sz="1000" dirty="0"/>
              <a:t>()</a:t>
            </a:r>
          </a:p>
          <a:p>
            <a:r>
              <a:rPr lang="en-GB" sz="1000" dirty="0"/>
              <a:t>    print(</a:t>
            </a:r>
            <a:r>
              <a:rPr lang="en-GB" sz="1000" dirty="0" err="1"/>
              <a:t>f"Query</a:t>
            </a:r>
            <a:r>
              <a:rPr lang="en-GB" sz="1000" dirty="0"/>
              <a:t> </a:t>
            </a:r>
            <a:r>
              <a:rPr lang="en-GB" sz="1000" dirty="0" err="1"/>
              <a:t>ausgeführt</a:t>
            </a:r>
            <a:r>
              <a:rPr lang="en-GB" sz="1000" dirty="0"/>
              <a:t> in {t3 - t2:.3f} </a:t>
            </a:r>
            <a:r>
              <a:rPr lang="en-GB" sz="1000" dirty="0" err="1"/>
              <a:t>Sekunden</a:t>
            </a:r>
            <a:r>
              <a:rPr lang="en-GB" sz="1000" dirty="0"/>
              <a:t>")</a:t>
            </a:r>
          </a:p>
          <a:p>
            <a:endParaRPr lang="en-GB" sz="1000" dirty="0"/>
          </a:p>
          <a:p>
            <a:r>
              <a:rPr lang="en-GB" sz="1000" dirty="0"/>
              <a:t>    # </a:t>
            </a:r>
            <a:r>
              <a:rPr lang="en-GB" sz="1000" dirty="0" err="1"/>
              <a:t>Ausgabe</a:t>
            </a:r>
            <a:endParaRPr lang="en-GB" sz="1000" dirty="0"/>
          </a:p>
          <a:p>
            <a:r>
              <a:rPr lang="en-GB" sz="1000" dirty="0"/>
              <a:t>    for row in result:</a:t>
            </a:r>
          </a:p>
          <a:p>
            <a:r>
              <a:rPr lang="en-GB" sz="1000" dirty="0"/>
              <a:t>        print(row)</a:t>
            </a:r>
          </a:p>
          <a:p>
            <a:r>
              <a:rPr lang="en-GB" sz="1000" dirty="0"/>
              <a:t>    t4 = </a:t>
            </a:r>
            <a:r>
              <a:rPr lang="en-GB" sz="1000" dirty="0" err="1"/>
              <a:t>time.perf_counter</a:t>
            </a:r>
            <a:r>
              <a:rPr lang="en-GB" sz="1000" dirty="0"/>
              <a:t>()</a:t>
            </a:r>
          </a:p>
          <a:p>
            <a:r>
              <a:rPr lang="en-GB" sz="1000" dirty="0"/>
              <a:t>    print(</a:t>
            </a:r>
            <a:r>
              <a:rPr lang="en-GB" sz="1000" dirty="0" err="1"/>
              <a:t>f"Ausgabe</a:t>
            </a:r>
            <a:r>
              <a:rPr lang="en-GB" sz="1000" dirty="0"/>
              <a:t> </a:t>
            </a:r>
            <a:r>
              <a:rPr lang="en-GB" sz="1000" dirty="0" err="1"/>
              <a:t>abgeschlossen</a:t>
            </a:r>
            <a:r>
              <a:rPr lang="en-GB" sz="1000" dirty="0"/>
              <a:t> in {t4 - t3:.3f} </a:t>
            </a:r>
            <a:r>
              <a:rPr lang="en-GB" sz="1000" dirty="0" err="1"/>
              <a:t>Sekunden</a:t>
            </a:r>
            <a:r>
              <a:rPr lang="en-GB" sz="1000" dirty="0"/>
              <a:t>")</a:t>
            </a:r>
          </a:p>
          <a:p>
            <a:endParaRPr lang="en-GB" sz="1000" dirty="0"/>
          </a:p>
          <a:p>
            <a:r>
              <a:rPr lang="en-GB" sz="1000" dirty="0"/>
              <a:t>print(</a:t>
            </a:r>
            <a:r>
              <a:rPr lang="en-GB" sz="1000" dirty="0" err="1"/>
              <a:t>f"Gesamtdauer</a:t>
            </a:r>
            <a:r>
              <a:rPr lang="en-GB" sz="1000" dirty="0"/>
              <a:t>: {t4 - t0:.3f} </a:t>
            </a:r>
            <a:r>
              <a:rPr lang="en-GB" sz="1000" dirty="0" err="1"/>
              <a:t>Sekunden</a:t>
            </a:r>
            <a:r>
              <a:rPr lang="en-GB" sz="1000" dirty="0"/>
              <a:t>")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E75D02B0-5AB1-D70B-4B15-35F88BAF5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3205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Skript</a:t>
            </a:r>
            <a:r>
              <a:rPr lang="en-GB" dirty="0"/>
              <a:t> für Benchmarking</a:t>
            </a:r>
          </a:p>
        </p:txBody>
      </p:sp>
    </p:spTree>
    <p:extLst>
      <p:ext uri="{BB962C8B-B14F-4D97-AF65-F5344CB8AC3E}">
        <p14:creationId xmlns:p14="http://schemas.microsoft.com/office/powerpoint/2010/main" val="3358273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c6d9da1-b319-4261-affa-9a49d8552532">
      <Terms xmlns="http://schemas.microsoft.com/office/infopath/2007/PartnerControls"/>
    </lcf76f155ced4ddcb4097134ff3c332f>
    <TaxCatchAll xmlns="e1d8c292-1417-4bc2-a9ac-d6697422c4a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F302FB43A68AD43A845FA565DA5BD16" ma:contentTypeVersion="11" ma:contentTypeDescription="Ein neues Dokument erstellen." ma:contentTypeScope="" ma:versionID="a17a47253f66407ee10352bcb25a31a5">
  <xsd:schema xmlns:xsd="http://www.w3.org/2001/XMLSchema" xmlns:xs="http://www.w3.org/2001/XMLSchema" xmlns:p="http://schemas.microsoft.com/office/2006/metadata/properties" xmlns:ns2="9c6d9da1-b319-4261-affa-9a49d8552532" xmlns:ns3="e1d8c292-1417-4bc2-a9ac-d6697422c4a7" targetNamespace="http://schemas.microsoft.com/office/2006/metadata/properties" ma:root="true" ma:fieldsID="0d6ac9923c574c058c3ad2b4067d8e59" ns2:_="" ns3:_="">
    <xsd:import namespace="9c6d9da1-b319-4261-affa-9a49d8552532"/>
    <xsd:import namespace="e1d8c292-1417-4bc2-a9ac-d6697422c4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6d9da1-b319-4261-affa-9a49d85525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865fa0fe-c9f4-4f3e-8db5-c3a0e623de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d8c292-1417-4bc2-a9ac-d6697422c4a7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4b5571c-2694-439d-84c2-acd0a444ce1a}" ma:internalName="TaxCatchAll" ma:showField="CatchAllData" ma:web="e1d8c292-1417-4bc2-a9ac-d6697422c4a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FCE793-304C-4B71-B3E4-12597D9DBF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65B28E0-DAC4-46AF-9058-D1E4310079FD}">
  <ds:schemaRefs>
    <ds:schemaRef ds:uri="http://schemas.microsoft.com/office/2006/metadata/properties"/>
    <ds:schemaRef ds:uri="http://schemas.microsoft.com/office/infopath/2007/PartnerControls"/>
    <ds:schemaRef ds:uri="9c6d9da1-b319-4261-affa-9a49d8552532"/>
    <ds:schemaRef ds:uri="e1d8c292-1417-4bc2-a9ac-d6697422c4a7"/>
  </ds:schemaRefs>
</ds:datastoreItem>
</file>

<file path=customXml/itemProps3.xml><?xml version="1.0" encoding="utf-8"?>
<ds:datastoreItem xmlns:ds="http://schemas.openxmlformats.org/officeDocument/2006/customXml" ds:itemID="{3A0344D2-F971-4EDF-9076-319F6F5846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6d9da1-b319-4261-affa-9a49d8552532"/>
    <ds:schemaRef ds:uri="e1d8c292-1417-4bc2-a9ac-d6697422c4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1714</Words>
  <Application>Microsoft Office PowerPoint</Application>
  <PresentationFormat>Widescreen</PresentationFormat>
  <Paragraphs>365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</vt:lpstr>
      <vt:lpstr>Anbindung von Datenbanken an Python</vt:lpstr>
      <vt:lpstr>Anbindung von SQL-Server an Python</vt:lpstr>
      <vt:lpstr>Einfache Anbindung </vt:lpstr>
      <vt:lpstr>Einfache Anbindung </vt:lpstr>
      <vt:lpstr>Einfache Anbindung </vt:lpstr>
      <vt:lpstr>Einfache Anbindung </vt:lpstr>
      <vt:lpstr>Einfache Anbindung </vt:lpstr>
      <vt:lpstr>Einfache Anbindung </vt:lpstr>
      <vt:lpstr>Einfache Anbindung </vt:lpstr>
      <vt:lpstr>Einfache Anbindung </vt:lpstr>
      <vt:lpstr>Einfache Anbindung </vt:lpstr>
      <vt:lpstr>Prinzipien und Tricks</vt:lpstr>
      <vt:lpstr>Prinzipien und Tricks</vt:lpstr>
      <vt:lpstr>Prinzipien und Tricks</vt:lpstr>
      <vt:lpstr>Prinzipien und Tricks</vt:lpstr>
      <vt:lpstr>Backup- Skripts</vt:lpstr>
      <vt:lpstr>Skript für Fehlersuche</vt:lpstr>
      <vt:lpstr>Skript für Benchmarking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Herren</dc:creator>
  <cp:lastModifiedBy>Christian Herren</cp:lastModifiedBy>
  <cp:revision>10</cp:revision>
  <dcterms:created xsi:type="dcterms:W3CDTF">2025-12-11T09:20:40Z</dcterms:created>
  <dcterms:modified xsi:type="dcterms:W3CDTF">2026-01-07T07:48:05Z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0x010100BF302FB43A68AD43A845FA565DA5BD16</vt:lpwstr>
  </property>
  <property fmtid="{D5CDD505-2E9C-101B-9397-08002B2CF9AE}" pid="3" name="MediaServiceImageTags">
    <vt:lpwstr/>
  </property>
</Properties>
</file>